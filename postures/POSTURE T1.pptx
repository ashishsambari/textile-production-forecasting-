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21599525" cy="32759650"/>
  <p:notesSz cx="10045700" cy="20104100"/>
  <p:defaultTextStyle>
    <a:defPPr>
      <a:defRPr lang="en-US"/>
    </a:defPPr>
    <a:lvl1pPr marL="0" algn="l" defTabSz="1648572" rtl="0" eaLnBrk="1" latinLnBrk="0" hangingPunct="1">
      <a:defRPr sz="3245" kern="1200">
        <a:solidFill>
          <a:schemeClr val="tx1"/>
        </a:solidFill>
        <a:latin typeface="+mn-lt"/>
        <a:ea typeface="+mn-ea"/>
        <a:cs typeface="+mn-cs"/>
      </a:defRPr>
    </a:lvl1pPr>
    <a:lvl2pPr marL="824286" algn="l" defTabSz="1648572" rtl="0" eaLnBrk="1" latinLnBrk="0" hangingPunct="1">
      <a:defRPr sz="3245" kern="1200">
        <a:solidFill>
          <a:schemeClr val="tx1"/>
        </a:solidFill>
        <a:latin typeface="+mn-lt"/>
        <a:ea typeface="+mn-ea"/>
        <a:cs typeface="+mn-cs"/>
      </a:defRPr>
    </a:lvl2pPr>
    <a:lvl3pPr marL="1648572" algn="l" defTabSz="1648572" rtl="0" eaLnBrk="1" latinLnBrk="0" hangingPunct="1">
      <a:defRPr sz="3245" kern="1200">
        <a:solidFill>
          <a:schemeClr val="tx1"/>
        </a:solidFill>
        <a:latin typeface="+mn-lt"/>
        <a:ea typeface="+mn-ea"/>
        <a:cs typeface="+mn-cs"/>
      </a:defRPr>
    </a:lvl3pPr>
    <a:lvl4pPr marL="2472858" algn="l" defTabSz="1648572" rtl="0" eaLnBrk="1" latinLnBrk="0" hangingPunct="1">
      <a:defRPr sz="3245" kern="1200">
        <a:solidFill>
          <a:schemeClr val="tx1"/>
        </a:solidFill>
        <a:latin typeface="+mn-lt"/>
        <a:ea typeface="+mn-ea"/>
        <a:cs typeface="+mn-cs"/>
      </a:defRPr>
    </a:lvl4pPr>
    <a:lvl5pPr marL="3297144" algn="l" defTabSz="1648572" rtl="0" eaLnBrk="1" latinLnBrk="0" hangingPunct="1">
      <a:defRPr sz="3245" kern="1200">
        <a:solidFill>
          <a:schemeClr val="tx1"/>
        </a:solidFill>
        <a:latin typeface="+mn-lt"/>
        <a:ea typeface="+mn-ea"/>
        <a:cs typeface="+mn-cs"/>
      </a:defRPr>
    </a:lvl5pPr>
    <a:lvl6pPr marL="4121429" algn="l" defTabSz="1648572" rtl="0" eaLnBrk="1" latinLnBrk="0" hangingPunct="1">
      <a:defRPr sz="3245" kern="1200">
        <a:solidFill>
          <a:schemeClr val="tx1"/>
        </a:solidFill>
        <a:latin typeface="+mn-lt"/>
        <a:ea typeface="+mn-ea"/>
        <a:cs typeface="+mn-cs"/>
      </a:defRPr>
    </a:lvl6pPr>
    <a:lvl7pPr marL="4945715" algn="l" defTabSz="1648572" rtl="0" eaLnBrk="1" latinLnBrk="0" hangingPunct="1">
      <a:defRPr sz="3245" kern="1200">
        <a:solidFill>
          <a:schemeClr val="tx1"/>
        </a:solidFill>
        <a:latin typeface="+mn-lt"/>
        <a:ea typeface="+mn-ea"/>
        <a:cs typeface="+mn-cs"/>
      </a:defRPr>
    </a:lvl7pPr>
    <a:lvl8pPr marL="5770001" algn="l" defTabSz="1648572" rtl="0" eaLnBrk="1" latinLnBrk="0" hangingPunct="1">
      <a:defRPr sz="3245" kern="1200">
        <a:solidFill>
          <a:schemeClr val="tx1"/>
        </a:solidFill>
        <a:latin typeface="+mn-lt"/>
        <a:ea typeface="+mn-ea"/>
        <a:cs typeface="+mn-cs"/>
      </a:defRPr>
    </a:lvl8pPr>
    <a:lvl9pPr marL="6594287" algn="l" defTabSz="1648572" rtl="0" eaLnBrk="1" latinLnBrk="0" hangingPunct="1">
      <a:defRPr sz="3245"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93" userDrawn="1">
          <p15:clr>
            <a:srgbClr val="A4A3A4"/>
          </p15:clr>
        </p15:guide>
        <p15:guide id="2" pos="46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p:scale>
          <a:sx n="33" d="100"/>
          <a:sy n="33" d="100"/>
        </p:scale>
        <p:origin x="1646" y="24"/>
      </p:cViewPr>
      <p:guideLst>
        <p:guide orient="horz" pos="4693"/>
        <p:guide pos="464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620988" y="10155492"/>
            <a:ext cx="18371203"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3241977" y="18345405"/>
            <a:ext cx="15129225"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4/25/2024</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1080658" y="7534720"/>
            <a:ext cx="9401733"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1130785" y="7534720"/>
            <a:ext cx="9401733"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4/25/2024</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4/25/2024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5020" y="4244056"/>
            <a:ext cx="21609082" cy="5751045"/>
          </a:xfrm>
          <a:custGeom>
            <a:avLst/>
            <a:gdLst/>
            <a:ahLst/>
            <a:cxnLst/>
            <a:rect l="l" t="t" r="r" b="b"/>
            <a:pathLst>
              <a:path w="10050145" h="3529329">
                <a:moveTo>
                  <a:pt x="0" y="3528952"/>
                </a:moveTo>
                <a:lnTo>
                  <a:pt x="10049714" y="3528952"/>
                </a:lnTo>
                <a:lnTo>
                  <a:pt x="10049714" y="0"/>
                </a:lnTo>
                <a:lnTo>
                  <a:pt x="0" y="0"/>
                </a:lnTo>
                <a:lnTo>
                  <a:pt x="0" y="3528952"/>
                </a:lnTo>
                <a:close/>
              </a:path>
            </a:pathLst>
          </a:custGeom>
          <a:solidFill>
            <a:srgbClr val="FED67F"/>
          </a:solidFill>
        </p:spPr>
        <p:txBody>
          <a:bodyPr wrap="square" lIns="0" tIns="0" rIns="0" bIns="0" rtlCol="0"/>
          <a:lstStyle/>
          <a:p>
            <a:endParaRPr sz="5288"/>
          </a:p>
        </p:txBody>
      </p:sp>
      <p:sp>
        <p:nvSpPr>
          <p:cNvPr id="17" name="bg object 17"/>
          <p:cNvSpPr/>
          <p:nvPr/>
        </p:nvSpPr>
        <p:spPr>
          <a:xfrm>
            <a:off x="0" y="9994487"/>
            <a:ext cx="21613178" cy="5879353"/>
          </a:xfrm>
          <a:custGeom>
            <a:avLst/>
            <a:gdLst/>
            <a:ahLst/>
            <a:cxnLst/>
            <a:rect l="l" t="t" r="r" b="b"/>
            <a:pathLst>
              <a:path w="10052050" h="3608070">
                <a:moveTo>
                  <a:pt x="0" y="3608047"/>
                </a:moveTo>
                <a:lnTo>
                  <a:pt x="10052049" y="3608047"/>
                </a:lnTo>
                <a:lnTo>
                  <a:pt x="10052049" y="0"/>
                </a:lnTo>
                <a:lnTo>
                  <a:pt x="0" y="0"/>
                </a:lnTo>
                <a:lnTo>
                  <a:pt x="0" y="3608047"/>
                </a:lnTo>
                <a:close/>
              </a:path>
            </a:pathLst>
          </a:custGeom>
          <a:solidFill>
            <a:srgbClr val="BFE7FF"/>
          </a:solidFill>
        </p:spPr>
        <p:txBody>
          <a:bodyPr wrap="square" lIns="0" tIns="0" rIns="0" bIns="0" rtlCol="0"/>
          <a:lstStyle/>
          <a:p>
            <a:endParaRPr sz="5288"/>
          </a:p>
        </p:txBody>
      </p:sp>
      <p:sp>
        <p:nvSpPr>
          <p:cNvPr id="18" name="bg object 18"/>
          <p:cNvSpPr/>
          <p:nvPr/>
        </p:nvSpPr>
        <p:spPr>
          <a:xfrm>
            <a:off x="0" y="15873804"/>
            <a:ext cx="21613178" cy="6203225"/>
          </a:xfrm>
          <a:custGeom>
            <a:avLst/>
            <a:gdLst/>
            <a:ahLst/>
            <a:cxnLst/>
            <a:rect l="l" t="t" r="r" b="b"/>
            <a:pathLst>
              <a:path w="10052050" h="3806825">
                <a:moveTo>
                  <a:pt x="0" y="0"/>
                </a:moveTo>
                <a:lnTo>
                  <a:pt x="0" y="3806649"/>
                </a:lnTo>
                <a:lnTo>
                  <a:pt x="10052049" y="3806649"/>
                </a:lnTo>
                <a:lnTo>
                  <a:pt x="10052049" y="0"/>
                </a:lnTo>
                <a:lnTo>
                  <a:pt x="0" y="0"/>
                </a:lnTo>
                <a:close/>
              </a:path>
            </a:pathLst>
          </a:custGeom>
          <a:solidFill>
            <a:srgbClr val="FFCFE7"/>
          </a:solidFill>
        </p:spPr>
        <p:txBody>
          <a:bodyPr wrap="square" lIns="0" tIns="0" rIns="0" bIns="0" rtlCol="0"/>
          <a:lstStyle/>
          <a:p>
            <a:endParaRPr sz="5288"/>
          </a:p>
        </p:txBody>
      </p:sp>
      <p:sp>
        <p:nvSpPr>
          <p:cNvPr id="19" name="bg object 19"/>
          <p:cNvSpPr/>
          <p:nvPr/>
        </p:nvSpPr>
        <p:spPr>
          <a:xfrm>
            <a:off x="0" y="22072532"/>
            <a:ext cx="21613178" cy="5300936"/>
          </a:xfrm>
          <a:custGeom>
            <a:avLst/>
            <a:gdLst/>
            <a:ahLst/>
            <a:cxnLst/>
            <a:rect l="l" t="t" r="r" b="b"/>
            <a:pathLst>
              <a:path w="10052050" h="3253105">
                <a:moveTo>
                  <a:pt x="0" y="3252573"/>
                </a:moveTo>
                <a:lnTo>
                  <a:pt x="10052049" y="3252573"/>
                </a:lnTo>
                <a:lnTo>
                  <a:pt x="10052049" y="0"/>
                </a:lnTo>
                <a:lnTo>
                  <a:pt x="0" y="0"/>
                </a:lnTo>
                <a:lnTo>
                  <a:pt x="0" y="3252573"/>
                </a:lnTo>
                <a:close/>
              </a:path>
            </a:pathLst>
          </a:custGeom>
          <a:solidFill>
            <a:srgbClr val="FCDCBF"/>
          </a:solidFill>
        </p:spPr>
        <p:txBody>
          <a:bodyPr wrap="square" lIns="0" tIns="0" rIns="0" bIns="0" rtlCol="0"/>
          <a:lstStyle/>
          <a:p>
            <a:endParaRPr sz="5288"/>
          </a:p>
        </p:txBody>
      </p:sp>
      <p:sp>
        <p:nvSpPr>
          <p:cNvPr id="20" name="bg object 20"/>
          <p:cNvSpPr/>
          <p:nvPr/>
        </p:nvSpPr>
        <p:spPr>
          <a:xfrm>
            <a:off x="0" y="27372604"/>
            <a:ext cx="21613178" cy="5387855"/>
          </a:xfrm>
          <a:custGeom>
            <a:avLst/>
            <a:gdLst/>
            <a:ahLst/>
            <a:cxnLst/>
            <a:rect l="l" t="t" r="r" b="b"/>
            <a:pathLst>
              <a:path w="10052050" h="3306444">
                <a:moveTo>
                  <a:pt x="0" y="3305948"/>
                </a:moveTo>
                <a:lnTo>
                  <a:pt x="10052049" y="3305948"/>
                </a:lnTo>
                <a:lnTo>
                  <a:pt x="10052049" y="0"/>
                </a:lnTo>
                <a:lnTo>
                  <a:pt x="0" y="0"/>
                </a:lnTo>
                <a:lnTo>
                  <a:pt x="0" y="3305948"/>
                </a:lnTo>
                <a:close/>
              </a:path>
            </a:pathLst>
          </a:custGeom>
          <a:solidFill>
            <a:srgbClr val="D7F5CD"/>
          </a:solidFill>
        </p:spPr>
        <p:txBody>
          <a:bodyPr wrap="square" lIns="0" tIns="0" rIns="0" bIns="0" rtlCol="0"/>
          <a:lstStyle/>
          <a:p>
            <a:endParaRPr sz="5288"/>
          </a:p>
        </p:txBody>
      </p:sp>
      <p:sp>
        <p:nvSpPr>
          <p:cNvPr id="2" name="Holder 2"/>
          <p:cNvSpPr>
            <a:spLocks noGrp="1"/>
          </p:cNvSpPr>
          <p:nvPr>
            <p:ph type="title"/>
          </p:nvPr>
        </p:nvSpPr>
        <p:spPr>
          <a:xfrm>
            <a:off x="1080659" y="1310386"/>
            <a:ext cx="19451860"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1080659" y="7534720"/>
            <a:ext cx="1945186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7348481" y="30466477"/>
            <a:ext cx="6916217" cy="4993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80659" y="30466477"/>
            <a:ext cx="4971030" cy="4993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4/25/2024</a:t>
            </a:fld>
            <a:endParaRPr lang="en-US"/>
          </a:p>
        </p:txBody>
      </p:sp>
      <p:sp>
        <p:nvSpPr>
          <p:cNvPr id="6" name="Holder 6"/>
          <p:cNvSpPr>
            <a:spLocks noGrp="1"/>
          </p:cNvSpPr>
          <p:nvPr>
            <p:ph type="sldNum" sz="quarter" idx="7"/>
          </p:nvPr>
        </p:nvSpPr>
        <p:spPr>
          <a:xfrm>
            <a:off x="15561489" y="30466477"/>
            <a:ext cx="4971030" cy="499367"/>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745007">
        <a:defRPr>
          <a:latin typeface="+mn-lt"/>
          <a:ea typeface="+mn-ea"/>
          <a:cs typeface="+mn-cs"/>
        </a:defRPr>
      </a:lvl2pPr>
      <a:lvl3pPr marL="1490015">
        <a:defRPr>
          <a:latin typeface="+mn-lt"/>
          <a:ea typeface="+mn-ea"/>
          <a:cs typeface="+mn-cs"/>
        </a:defRPr>
      </a:lvl3pPr>
      <a:lvl4pPr marL="2235022">
        <a:defRPr>
          <a:latin typeface="+mn-lt"/>
          <a:ea typeface="+mn-ea"/>
          <a:cs typeface="+mn-cs"/>
        </a:defRPr>
      </a:lvl4pPr>
      <a:lvl5pPr marL="2980030">
        <a:defRPr>
          <a:latin typeface="+mn-lt"/>
          <a:ea typeface="+mn-ea"/>
          <a:cs typeface="+mn-cs"/>
        </a:defRPr>
      </a:lvl5pPr>
      <a:lvl6pPr marL="3725037">
        <a:defRPr>
          <a:latin typeface="+mn-lt"/>
          <a:ea typeface="+mn-ea"/>
          <a:cs typeface="+mn-cs"/>
        </a:defRPr>
      </a:lvl6pPr>
      <a:lvl7pPr marL="4470044">
        <a:defRPr>
          <a:latin typeface="+mn-lt"/>
          <a:ea typeface="+mn-ea"/>
          <a:cs typeface="+mn-cs"/>
        </a:defRPr>
      </a:lvl7pPr>
      <a:lvl8pPr marL="5215052">
        <a:defRPr>
          <a:latin typeface="+mn-lt"/>
          <a:ea typeface="+mn-ea"/>
          <a:cs typeface="+mn-cs"/>
        </a:defRPr>
      </a:lvl8pPr>
      <a:lvl9pPr marL="5960059">
        <a:defRPr>
          <a:latin typeface="+mn-lt"/>
          <a:ea typeface="+mn-ea"/>
          <a:cs typeface="+mn-cs"/>
        </a:defRPr>
      </a:lvl9pPr>
    </p:bodyStyle>
    <p:otherStyle>
      <a:lvl1pPr marL="0">
        <a:defRPr>
          <a:latin typeface="+mn-lt"/>
          <a:ea typeface="+mn-ea"/>
          <a:cs typeface="+mn-cs"/>
        </a:defRPr>
      </a:lvl1pPr>
      <a:lvl2pPr marL="745007">
        <a:defRPr>
          <a:latin typeface="+mn-lt"/>
          <a:ea typeface="+mn-ea"/>
          <a:cs typeface="+mn-cs"/>
        </a:defRPr>
      </a:lvl2pPr>
      <a:lvl3pPr marL="1490015">
        <a:defRPr>
          <a:latin typeface="+mn-lt"/>
          <a:ea typeface="+mn-ea"/>
          <a:cs typeface="+mn-cs"/>
        </a:defRPr>
      </a:lvl3pPr>
      <a:lvl4pPr marL="2235022">
        <a:defRPr>
          <a:latin typeface="+mn-lt"/>
          <a:ea typeface="+mn-ea"/>
          <a:cs typeface="+mn-cs"/>
        </a:defRPr>
      </a:lvl4pPr>
      <a:lvl5pPr marL="2980030">
        <a:defRPr>
          <a:latin typeface="+mn-lt"/>
          <a:ea typeface="+mn-ea"/>
          <a:cs typeface="+mn-cs"/>
        </a:defRPr>
      </a:lvl5pPr>
      <a:lvl6pPr marL="3725037">
        <a:defRPr>
          <a:latin typeface="+mn-lt"/>
          <a:ea typeface="+mn-ea"/>
          <a:cs typeface="+mn-cs"/>
        </a:defRPr>
      </a:lvl6pPr>
      <a:lvl7pPr marL="4470044">
        <a:defRPr>
          <a:latin typeface="+mn-lt"/>
          <a:ea typeface="+mn-ea"/>
          <a:cs typeface="+mn-cs"/>
        </a:defRPr>
      </a:lvl7pPr>
      <a:lvl8pPr marL="5215052">
        <a:defRPr>
          <a:latin typeface="+mn-lt"/>
          <a:ea typeface="+mn-ea"/>
          <a:cs typeface="+mn-cs"/>
        </a:defRPr>
      </a:lvl8pPr>
      <a:lvl9pPr marL="5960059">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84162" y="4408072"/>
            <a:ext cx="3245958" cy="468064"/>
          </a:xfrm>
          <a:prstGeom prst="rect">
            <a:avLst/>
          </a:prstGeom>
          <a:solidFill>
            <a:srgbClr val="FFFF00"/>
          </a:solidFill>
          <a:ln w="7756">
            <a:solidFill>
              <a:srgbClr val="32538F"/>
            </a:solidFill>
          </a:ln>
        </p:spPr>
        <p:txBody>
          <a:bodyPr vert="horz" wrap="square" lIns="0" tIns="41389" rIns="0" bIns="0" rtlCol="0">
            <a:spAutoFit/>
          </a:bodyPr>
          <a:lstStyle/>
          <a:p>
            <a:pPr marL="97265">
              <a:spcBef>
                <a:spcPts val="326"/>
              </a:spcBef>
            </a:pPr>
            <a:r>
              <a:rPr sz="2790" b="1" spc="8" dirty="0">
                <a:latin typeface="Times New Roman"/>
                <a:cs typeface="Times New Roman"/>
              </a:rPr>
              <a:t>INTRODUCTION</a:t>
            </a:r>
            <a:endParaRPr sz="2790" dirty="0">
              <a:latin typeface="Times New Roman"/>
              <a:cs typeface="Times New Roman"/>
            </a:endParaRPr>
          </a:p>
        </p:txBody>
      </p:sp>
      <p:sp>
        <p:nvSpPr>
          <p:cNvPr id="3" name="object 3"/>
          <p:cNvSpPr/>
          <p:nvPr/>
        </p:nvSpPr>
        <p:spPr>
          <a:xfrm>
            <a:off x="-2" y="2512280"/>
            <a:ext cx="21599527" cy="1736170"/>
          </a:xfrm>
          <a:custGeom>
            <a:avLst/>
            <a:gdLst/>
            <a:ahLst/>
            <a:cxnLst/>
            <a:rect l="l" t="t" r="r" b="b"/>
            <a:pathLst>
              <a:path w="10047605" h="1048385">
                <a:moveTo>
                  <a:pt x="0" y="1048272"/>
                </a:moveTo>
                <a:lnTo>
                  <a:pt x="10047172" y="1048272"/>
                </a:lnTo>
                <a:lnTo>
                  <a:pt x="10047172" y="0"/>
                </a:lnTo>
                <a:lnTo>
                  <a:pt x="0" y="0"/>
                </a:lnTo>
                <a:lnTo>
                  <a:pt x="0" y="1048272"/>
                </a:lnTo>
                <a:close/>
              </a:path>
            </a:pathLst>
          </a:custGeom>
          <a:solidFill>
            <a:srgbClr val="FFF2CC"/>
          </a:solidFill>
        </p:spPr>
        <p:txBody>
          <a:bodyPr wrap="square" lIns="0" tIns="0" rIns="0" bIns="0" rtlCol="0"/>
          <a:lstStyle/>
          <a:p>
            <a:endParaRPr sz="5288"/>
          </a:p>
        </p:txBody>
      </p:sp>
      <p:sp>
        <p:nvSpPr>
          <p:cNvPr id="4" name="object 4"/>
          <p:cNvSpPr txBox="1"/>
          <p:nvPr/>
        </p:nvSpPr>
        <p:spPr>
          <a:xfrm>
            <a:off x="280975" y="15949040"/>
            <a:ext cx="1871832" cy="468064"/>
          </a:xfrm>
          <a:prstGeom prst="rect">
            <a:avLst/>
          </a:prstGeom>
          <a:solidFill>
            <a:srgbClr val="FFFF00"/>
          </a:solidFill>
          <a:ln w="7756">
            <a:solidFill>
              <a:srgbClr val="32538F"/>
            </a:solidFill>
          </a:ln>
        </p:spPr>
        <p:txBody>
          <a:bodyPr vert="horz" wrap="square" lIns="0" tIns="41389" rIns="0" bIns="0" rtlCol="0">
            <a:spAutoFit/>
          </a:bodyPr>
          <a:lstStyle/>
          <a:p>
            <a:pPr marL="97265">
              <a:spcBef>
                <a:spcPts val="326"/>
              </a:spcBef>
            </a:pPr>
            <a:r>
              <a:rPr sz="2770" b="1" spc="-33" dirty="0">
                <a:latin typeface="Times New Roman"/>
                <a:cs typeface="Times New Roman"/>
              </a:rPr>
              <a:t>RESULTS</a:t>
            </a:r>
            <a:endParaRPr sz="2770" dirty="0">
              <a:latin typeface="Times New Roman"/>
              <a:cs typeface="Times New Roman"/>
            </a:endParaRPr>
          </a:p>
        </p:txBody>
      </p:sp>
      <p:sp>
        <p:nvSpPr>
          <p:cNvPr id="5" name="object 5"/>
          <p:cNvSpPr txBox="1"/>
          <p:nvPr/>
        </p:nvSpPr>
        <p:spPr>
          <a:xfrm>
            <a:off x="285408" y="22280857"/>
            <a:ext cx="5881423" cy="468064"/>
          </a:xfrm>
          <a:prstGeom prst="rect">
            <a:avLst/>
          </a:prstGeom>
          <a:solidFill>
            <a:srgbClr val="FFFF00"/>
          </a:solidFill>
          <a:ln w="7756">
            <a:solidFill>
              <a:srgbClr val="32538F"/>
            </a:solidFill>
          </a:ln>
        </p:spPr>
        <p:txBody>
          <a:bodyPr vert="horz" wrap="square" lIns="0" tIns="41389" rIns="0" bIns="0" rtlCol="0">
            <a:spAutoFit/>
          </a:bodyPr>
          <a:lstStyle/>
          <a:p>
            <a:pPr marL="97265">
              <a:spcBef>
                <a:spcPts val="326"/>
              </a:spcBef>
            </a:pPr>
            <a:r>
              <a:rPr sz="2770" b="1" spc="8" dirty="0">
                <a:latin typeface="Times New Roman"/>
                <a:cs typeface="Times New Roman"/>
              </a:rPr>
              <a:t>DISCUSSI</a:t>
            </a:r>
            <a:r>
              <a:rPr sz="2770" b="1" dirty="0">
                <a:latin typeface="Times New Roman"/>
                <a:cs typeface="Times New Roman"/>
              </a:rPr>
              <a:t>O</a:t>
            </a:r>
            <a:r>
              <a:rPr sz="2770" b="1" spc="8" dirty="0">
                <a:latin typeface="Times New Roman"/>
                <a:cs typeface="Times New Roman"/>
              </a:rPr>
              <a:t>N</a:t>
            </a:r>
            <a:r>
              <a:rPr sz="2770" b="1" spc="-155" dirty="0">
                <a:latin typeface="Times New Roman"/>
                <a:cs typeface="Times New Roman"/>
              </a:rPr>
              <a:t> </a:t>
            </a:r>
            <a:r>
              <a:rPr sz="2770" b="1" spc="8" dirty="0">
                <a:latin typeface="Times New Roman"/>
                <a:cs typeface="Times New Roman"/>
              </a:rPr>
              <a:t>AND</a:t>
            </a:r>
            <a:r>
              <a:rPr sz="2770" b="1" dirty="0">
                <a:latin typeface="Times New Roman"/>
                <a:cs typeface="Times New Roman"/>
              </a:rPr>
              <a:t> </a:t>
            </a:r>
            <a:r>
              <a:rPr sz="2770" b="1" spc="8" dirty="0">
                <a:latin typeface="Times New Roman"/>
                <a:cs typeface="Times New Roman"/>
              </a:rPr>
              <a:t>C</a:t>
            </a:r>
            <a:r>
              <a:rPr sz="2770" b="1" dirty="0">
                <a:latin typeface="Times New Roman"/>
                <a:cs typeface="Times New Roman"/>
              </a:rPr>
              <a:t>O</a:t>
            </a:r>
            <a:r>
              <a:rPr sz="2770" b="1" spc="8" dirty="0">
                <a:latin typeface="Times New Roman"/>
                <a:cs typeface="Times New Roman"/>
              </a:rPr>
              <a:t>NCLUSI</a:t>
            </a:r>
            <a:r>
              <a:rPr sz="2770" b="1" dirty="0">
                <a:latin typeface="Times New Roman"/>
                <a:cs typeface="Times New Roman"/>
              </a:rPr>
              <a:t>O</a:t>
            </a:r>
            <a:r>
              <a:rPr sz="2770" b="1" spc="8" dirty="0">
                <a:latin typeface="Times New Roman"/>
                <a:cs typeface="Times New Roman"/>
              </a:rPr>
              <a:t>N</a:t>
            </a:r>
            <a:endParaRPr sz="2770" dirty="0">
              <a:latin typeface="Times New Roman"/>
              <a:cs typeface="Times New Roman"/>
            </a:endParaRPr>
          </a:p>
        </p:txBody>
      </p:sp>
      <p:sp>
        <p:nvSpPr>
          <p:cNvPr id="6" name="object 6"/>
          <p:cNvSpPr txBox="1"/>
          <p:nvPr/>
        </p:nvSpPr>
        <p:spPr>
          <a:xfrm>
            <a:off x="280975" y="27502555"/>
            <a:ext cx="3009004" cy="468064"/>
          </a:xfrm>
          <a:prstGeom prst="rect">
            <a:avLst/>
          </a:prstGeom>
          <a:solidFill>
            <a:srgbClr val="FFFF00"/>
          </a:solidFill>
          <a:ln w="7756">
            <a:solidFill>
              <a:srgbClr val="32538F"/>
            </a:solidFill>
          </a:ln>
        </p:spPr>
        <p:txBody>
          <a:bodyPr vert="horz" wrap="square" lIns="0" tIns="41389" rIns="0" bIns="0" rtlCol="0">
            <a:spAutoFit/>
          </a:bodyPr>
          <a:lstStyle/>
          <a:p>
            <a:pPr marL="97265">
              <a:spcBef>
                <a:spcPts val="326"/>
              </a:spcBef>
            </a:pPr>
            <a:r>
              <a:rPr sz="2770" b="1" dirty="0">
                <a:latin typeface="Times New Roman"/>
                <a:cs typeface="Times New Roman"/>
              </a:rPr>
              <a:t>BIBLIOGRAPHY</a:t>
            </a:r>
            <a:endParaRPr sz="2770" dirty="0">
              <a:latin typeface="Times New Roman"/>
              <a:cs typeface="Times New Roman"/>
            </a:endParaRPr>
          </a:p>
        </p:txBody>
      </p:sp>
      <p:sp>
        <p:nvSpPr>
          <p:cNvPr id="7" name="object 7"/>
          <p:cNvSpPr txBox="1"/>
          <p:nvPr/>
        </p:nvSpPr>
        <p:spPr>
          <a:xfrm>
            <a:off x="284162" y="10181308"/>
            <a:ext cx="5160214" cy="468064"/>
          </a:xfrm>
          <a:prstGeom prst="rect">
            <a:avLst/>
          </a:prstGeom>
          <a:solidFill>
            <a:srgbClr val="FFFF00"/>
          </a:solidFill>
          <a:ln w="7756">
            <a:solidFill>
              <a:srgbClr val="32538F"/>
            </a:solidFill>
          </a:ln>
        </p:spPr>
        <p:txBody>
          <a:bodyPr vert="horz" wrap="square" lIns="0" tIns="41389" rIns="0" bIns="0" rtlCol="0">
            <a:spAutoFit/>
          </a:bodyPr>
          <a:lstStyle/>
          <a:p>
            <a:pPr marL="97265">
              <a:spcBef>
                <a:spcPts val="326"/>
              </a:spcBef>
            </a:pPr>
            <a:r>
              <a:rPr sz="2770" b="1" dirty="0">
                <a:latin typeface="Times New Roman"/>
                <a:cs typeface="Times New Roman"/>
              </a:rPr>
              <a:t>M</a:t>
            </a:r>
            <a:r>
              <a:rPr sz="2770" b="1" spc="-204" dirty="0">
                <a:latin typeface="Times New Roman"/>
                <a:cs typeface="Times New Roman"/>
              </a:rPr>
              <a:t>A</a:t>
            </a:r>
            <a:r>
              <a:rPr sz="2770" b="1" spc="8" dirty="0">
                <a:latin typeface="Times New Roman"/>
                <a:cs typeface="Times New Roman"/>
              </a:rPr>
              <a:t>TERIALS</a:t>
            </a:r>
            <a:r>
              <a:rPr sz="2770" b="1" spc="-155" dirty="0">
                <a:latin typeface="Times New Roman"/>
                <a:cs typeface="Times New Roman"/>
              </a:rPr>
              <a:t> </a:t>
            </a:r>
            <a:r>
              <a:rPr sz="2770" b="1" spc="8" dirty="0">
                <a:latin typeface="Times New Roman"/>
                <a:cs typeface="Times New Roman"/>
              </a:rPr>
              <a:t>AND</a:t>
            </a:r>
            <a:r>
              <a:rPr sz="2770" b="1" dirty="0">
                <a:latin typeface="Times New Roman"/>
                <a:cs typeface="Times New Roman"/>
              </a:rPr>
              <a:t> M</a:t>
            </a:r>
            <a:r>
              <a:rPr sz="2770" b="1" spc="8" dirty="0">
                <a:latin typeface="Times New Roman"/>
                <a:cs typeface="Times New Roman"/>
              </a:rPr>
              <a:t>ET</a:t>
            </a:r>
            <a:r>
              <a:rPr sz="2770" b="1" dirty="0">
                <a:latin typeface="Times New Roman"/>
                <a:cs typeface="Times New Roman"/>
              </a:rPr>
              <a:t>HO</a:t>
            </a:r>
            <a:r>
              <a:rPr sz="2770" b="1" spc="8" dirty="0">
                <a:latin typeface="Times New Roman"/>
                <a:cs typeface="Times New Roman"/>
              </a:rPr>
              <a:t>DS</a:t>
            </a:r>
            <a:endParaRPr sz="2770" dirty="0">
              <a:latin typeface="Times New Roman"/>
              <a:cs typeface="Times New Roman"/>
            </a:endParaRPr>
          </a:p>
        </p:txBody>
      </p:sp>
      <p:sp>
        <p:nvSpPr>
          <p:cNvPr id="8" name="object 8"/>
          <p:cNvSpPr txBox="1"/>
          <p:nvPr/>
        </p:nvSpPr>
        <p:spPr>
          <a:xfrm>
            <a:off x="280975" y="28148897"/>
            <a:ext cx="20729587" cy="4425957"/>
          </a:xfrm>
          <a:prstGeom prst="rect">
            <a:avLst/>
          </a:prstGeom>
        </p:spPr>
        <p:txBody>
          <a:bodyPr vert="horz" wrap="square" lIns="0" tIns="35181" rIns="0" bIns="0" rtlCol="0">
            <a:spAutoFit/>
          </a:bodyPr>
          <a:lstStyle/>
          <a:p>
            <a:pPr marL="361122" marR="8278" indent="-341462" algn="just">
              <a:spcBef>
                <a:spcPts val="277"/>
              </a:spcBef>
              <a:buFont typeface="MS UI Gothic"/>
              <a:buChar char="➢"/>
              <a:tabLst>
                <a:tab pos="362156" algn="l"/>
              </a:tabLst>
            </a:pPr>
            <a:r>
              <a:rPr lang="en-IN" sz="2190" b="1" spc="-90" dirty="0">
                <a:latin typeface="Times New Roman"/>
                <a:cs typeface="Times New Roman"/>
              </a:rPr>
              <a:t>Bohanec M, Borštnar MK, Robnik-Šikonja M (2017) Explaining machine learning models in sales predictions. Expert Syst Appl 71:416–428.</a:t>
            </a:r>
          </a:p>
          <a:p>
            <a:pPr marL="361122" marR="8278" indent="-341462" algn="just">
              <a:spcBef>
                <a:spcPts val="277"/>
              </a:spcBef>
              <a:buFont typeface="MS UI Gothic"/>
              <a:buChar char="➢"/>
              <a:tabLst>
                <a:tab pos="362156" algn="l"/>
              </a:tabLst>
            </a:pPr>
            <a:r>
              <a:rPr lang="en-IN" sz="2190" b="1" spc="-90" dirty="0">
                <a:latin typeface="Times New Roman"/>
                <a:cs typeface="Times New Roman"/>
              </a:rPr>
              <a:t>Chase CW Jr (2016) Machine learning is changing demand forecasting. J Bus Forecast 35(4):43.</a:t>
            </a:r>
          </a:p>
          <a:p>
            <a:pPr marL="361122" marR="8278" indent="-341462" algn="just">
              <a:spcBef>
                <a:spcPts val="277"/>
              </a:spcBef>
              <a:buFont typeface="MS UI Gothic"/>
              <a:buChar char="➢"/>
              <a:tabLst>
                <a:tab pos="362156" algn="l"/>
              </a:tabLst>
            </a:pPr>
            <a:r>
              <a:rPr lang="en-IN" sz="2190" b="1" spc="-90" dirty="0">
                <a:latin typeface="Times New Roman"/>
                <a:cs typeface="Times New Roman"/>
              </a:rPr>
              <a:t>Ampazis N (2015) Forecasting demand in supply chain using machine learning algorithms. Int J Artif Life Res (IJALR) 5(1):56–73.</a:t>
            </a:r>
          </a:p>
          <a:p>
            <a:pPr marL="361122" marR="8278" indent="-341462" algn="just">
              <a:spcBef>
                <a:spcPts val="277"/>
              </a:spcBef>
              <a:buFont typeface="MS UI Gothic"/>
              <a:buChar char="➢"/>
              <a:tabLst>
                <a:tab pos="362156" algn="l"/>
              </a:tabLst>
            </a:pPr>
            <a:r>
              <a:rPr lang="en-IN" sz="2190" b="1" spc="-90" dirty="0">
                <a:latin typeface="Times New Roman"/>
                <a:cs typeface="Times New Roman"/>
              </a:rPr>
              <a:t>Smolak K, Kasieczka B, Fialkiewicz W, Rohm W, Siła-Nowicka K, Kopańczyk K (2020) Applying human mobility and water consumption data for short-term water demand forecasting using classical and machine learning models. Urban Water J 17(1):32–42.</a:t>
            </a:r>
          </a:p>
          <a:p>
            <a:pPr marL="361122" marR="8278" indent="-341462" algn="just">
              <a:spcBef>
                <a:spcPts val="277"/>
              </a:spcBef>
              <a:buFont typeface="MS UI Gothic"/>
              <a:buChar char="➢"/>
              <a:tabLst>
                <a:tab pos="362156" algn="l"/>
              </a:tabLst>
            </a:pPr>
            <a:r>
              <a:rPr lang="en-IN" sz="2190" b="1" spc="-90" dirty="0">
                <a:latin typeface="Times New Roman"/>
                <a:cs typeface="Times New Roman"/>
              </a:rPr>
              <a:t>Sillanpää V, Liesiö J (2018) Forecasting replenishment orders in retail: value of modelling low and intermittent consumer demand with distributions. Int J Prod Res 56(12):4168–4185</a:t>
            </a:r>
          </a:p>
          <a:p>
            <a:pPr marL="361122" marR="8278" indent="-341462" algn="just">
              <a:spcBef>
                <a:spcPts val="277"/>
              </a:spcBef>
              <a:buFont typeface="MS UI Gothic"/>
              <a:buChar char="➢"/>
              <a:tabLst>
                <a:tab pos="362156" algn="l"/>
              </a:tabLst>
            </a:pPr>
            <a:r>
              <a:rPr lang="en-IN" sz="2190" b="1" spc="-90" dirty="0">
                <a:latin typeface="Times New Roman"/>
                <a:cs typeface="Times New Roman"/>
              </a:rPr>
              <a:t>Mohammed A (2020) Towards ‘gresilient’ supply chain management: a quantitative study. Resour Conserv Recycl 155:104641.</a:t>
            </a:r>
          </a:p>
          <a:p>
            <a:pPr marL="361122" marR="8278" indent="-341462" algn="just">
              <a:spcBef>
                <a:spcPts val="277"/>
              </a:spcBef>
              <a:buFont typeface="MS UI Gothic"/>
              <a:buChar char="➢"/>
              <a:tabLst>
                <a:tab pos="362156" algn="l"/>
              </a:tabLst>
            </a:pPr>
            <a:r>
              <a:rPr lang="en-IN" sz="2190" b="1" spc="-90" dirty="0">
                <a:latin typeface="Times New Roman"/>
                <a:cs typeface="Times New Roman"/>
              </a:rPr>
              <a:t>Oliva R, Watson N (2009) Managing functional biases in organizational forecasts: a case study of consensus forecasting in supply chain planning. Prod Oper Manag 18(2):138–151.</a:t>
            </a:r>
          </a:p>
          <a:p>
            <a:pPr marL="361122" marR="8278" indent="-341462" algn="just">
              <a:spcBef>
                <a:spcPts val="277"/>
              </a:spcBef>
              <a:buFont typeface="MS UI Gothic"/>
              <a:buChar char="➢"/>
              <a:tabLst>
                <a:tab pos="362156" algn="l"/>
              </a:tabLst>
            </a:pPr>
            <a:r>
              <a:rPr lang="en-US" sz="2190" b="1" spc="-90" dirty="0">
                <a:latin typeface="Times New Roman"/>
                <a:cs typeface="Times New Roman"/>
              </a:rPr>
              <a:t>Kantasa-Ard A, Nouiri M, Bekrar A, Ait el Cadi A, Sallez Y (2021) Machine learning for demand forecasting in the physical internet: a case study of agricultural products in Thailand. Int J Prod Res 59(24):7491–7515</a:t>
            </a:r>
            <a:r>
              <a:rPr lang="en-IN" sz="2190" b="1" spc="-90" dirty="0">
                <a:latin typeface="Times New Roman"/>
                <a:cs typeface="Times New Roman"/>
              </a:rPr>
              <a:t>.</a:t>
            </a:r>
          </a:p>
          <a:p>
            <a:pPr marL="361122" marR="8278" indent="-341462" algn="just">
              <a:spcBef>
                <a:spcPts val="277"/>
              </a:spcBef>
              <a:buFont typeface="MS UI Gothic"/>
              <a:buChar char="➢"/>
              <a:tabLst>
                <a:tab pos="362156" algn="l"/>
              </a:tabLst>
            </a:pPr>
            <a:r>
              <a:rPr lang="en-IN" sz="2190" b="1" spc="-90" dirty="0">
                <a:latin typeface="Times New Roman"/>
                <a:cs typeface="Times New Roman"/>
              </a:rPr>
              <a:t>Holzinger A (2016) Interactive machine learning for health informatics: when do we need the human-in-the-loop? Brain Inf 3(2):119–131.</a:t>
            </a:r>
          </a:p>
          <a:p>
            <a:pPr marL="361122" marR="8278" indent="-341462" algn="just">
              <a:spcBef>
                <a:spcPts val="277"/>
              </a:spcBef>
              <a:buFont typeface="MS UI Gothic"/>
              <a:buChar char="➢"/>
              <a:tabLst>
                <a:tab pos="362156" algn="l"/>
              </a:tabLst>
            </a:pPr>
            <a:r>
              <a:rPr lang="en-IN" sz="2190" b="1" spc="-90" dirty="0">
                <a:latin typeface="Times New Roman"/>
                <a:cs typeface="Times New Roman"/>
              </a:rPr>
              <a:t>Goecks J, Jalili V, Heiser LM, Gray JW (2020) How machine learning will transform biomedicine. Cell 181(1):92–101.</a:t>
            </a:r>
          </a:p>
        </p:txBody>
      </p:sp>
      <p:sp>
        <p:nvSpPr>
          <p:cNvPr id="9" name="object 9"/>
          <p:cNvSpPr txBox="1"/>
          <p:nvPr/>
        </p:nvSpPr>
        <p:spPr>
          <a:xfrm>
            <a:off x="280974" y="22892740"/>
            <a:ext cx="20729587" cy="4310541"/>
          </a:xfrm>
          <a:prstGeom prst="rect">
            <a:avLst/>
          </a:prstGeom>
        </p:spPr>
        <p:txBody>
          <a:bodyPr vert="horz" wrap="square" lIns="0" tIns="35181" rIns="0" bIns="0" rtlCol="0">
            <a:spAutoFit/>
          </a:bodyPr>
          <a:lstStyle/>
          <a:p>
            <a:pPr marL="361122" marR="8278" indent="-341462">
              <a:spcBef>
                <a:spcPts val="277"/>
              </a:spcBef>
              <a:buFont typeface="MS UI Gothic"/>
              <a:buChar char="➢"/>
              <a:tabLst>
                <a:tab pos="362156" algn="l"/>
              </a:tabLst>
            </a:pPr>
            <a:r>
              <a:rPr lang="en-US" sz="2190" b="1" spc="-8" dirty="0">
                <a:latin typeface="Times New Roman"/>
                <a:cs typeface="Times New Roman"/>
              </a:rPr>
              <a:t>Logistic Regression demonstrates superior accuracy (87.00%) compared to XG Boost (68.38%) in detecting textile production network intrusions, indicating its effectiveness in handling categorical data and binary classification tasks common in network security analysis.</a:t>
            </a:r>
          </a:p>
          <a:p>
            <a:pPr marL="361122" marR="8278" indent="-341462">
              <a:spcBef>
                <a:spcPts val="277"/>
              </a:spcBef>
              <a:buFont typeface="MS UI Gothic"/>
              <a:buChar char="➢"/>
              <a:tabLst>
                <a:tab pos="362156" algn="l"/>
              </a:tabLst>
            </a:pPr>
            <a:r>
              <a:rPr lang="en-US" sz="2190" b="1" spc="-8" dirty="0">
                <a:latin typeface="Times New Roman"/>
                <a:cs typeface="Times New Roman"/>
              </a:rPr>
              <a:t>The discrepancy in accuracy underscores the importance of understanding the specific factors contributing to performance differences between the two algorithms, highlighting the need for meticulous feature selection and model tuning processes.</a:t>
            </a:r>
          </a:p>
          <a:p>
            <a:pPr marL="361122" marR="8278" indent="-341462">
              <a:spcBef>
                <a:spcPts val="277"/>
              </a:spcBef>
              <a:buFont typeface="MS UI Gothic"/>
              <a:buChar char="➢"/>
              <a:tabLst>
                <a:tab pos="362156" algn="l"/>
              </a:tabLst>
            </a:pPr>
            <a:r>
              <a:rPr lang="en-US" sz="2190" b="1" spc="-8" dirty="0">
                <a:latin typeface="Times New Roman"/>
                <a:cs typeface="Times New Roman"/>
              </a:rPr>
              <a:t>The implications of these findings for the textile industry are noteworthy. Accurate prediction of production outcomes is crucial for optimizing resource allocation, minimizing waste, and improving overall efficiency in manufacturing processes.</a:t>
            </a:r>
          </a:p>
          <a:p>
            <a:pPr marL="361122" marR="8278" indent="-341462">
              <a:spcBef>
                <a:spcPts val="277"/>
              </a:spcBef>
              <a:buFont typeface="MS UI Gothic"/>
              <a:buChar char="➢"/>
              <a:tabLst>
                <a:tab pos="362156" algn="l"/>
              </a:tabLst>
            </a:pPr>
            <a:r>
              <a:rPr lang="en-US" sz="2190" b="1" spc="-8" dirty="0">
                <a:latin typeface="Times New Roman"/>
                <a:cs typeface="Times New Roman"/>
              </a:rPr>
              <a:t>Tailoring machine learning algorithms to the unique characteristics of textile production systems is essential, with logistic regression emerging as a promising choice due to its simplicity and interpretability in this context.</a:t>
            </a:r>
          </a:p>
          <a:p>
            <a:pPr marL="361122" marR="8278" indent="-341462">
              <a:spcBef>
                <a:spcPts val="277"/>
              </a:spcBef>
              <a:buFont typeface="MS UI Gothic"/>
              <a:buChar char="➢"/>
              <a:tabLst>
                <a:tab pos="362156" algn="l"/>
              </a:tabLst>
            </a:pPr>
            <a:r>
              <a:rPr lang="en-US" sz="2190" b="1" spc="-8" dirty="0">
                <a:latin typeface="Times New Roman"/>
                <a:cs typeface="Times New Roman"/>
              </a:rPr>
              <a:t>We used SPSS a data analysis of software made by IBM to perform analyzing on data obtained graph for both algorithms  XG Boost and Logistic Regression.</a:t>
            </a:r>
          </a:p>
          <a:p>
            <a:pPr marL="361122" marR="8278" indent="-341462">
              <a:spcBef>
                <a:spcPts val="277"/>
              </a:spcBef>
              <a:buFont typeface="MS UI Gothic"/>
              <a:buChar char="➢"/>
              <a:tabLst>
                <a:tab pos="362156" algn="l"/>
              </a:tabLst>
            </a:pPr>
            <a:r>
              <a:rPr lang="en-US" sz="2190" b="1" dirty="0">
                <a:latin typeface="Times New Roman" panose="02020603050405020304" pitchFamily="18" charset="0"/>
              </a:rPr>
              <a:t>T-test Statistical analysis reveals a significance value of p=0.001 (independent sample T-test p&lt;0.05), signifying a statistically significant difference between the two groups.</a:t>
            </a:r>
            <a:endParaRPr lang="en-US" sz="2190" b="1" spc="-8" dirty="0">
              <a:latin typeface="Times New Roman"/>
              <a:cs typeface="Times New Roman"/>
            </a:endParaRPr>
          </a:p>
          <a:p>
            <a:pPr marL="361122" marR="8278" indent="-341462">
              <a:spcBef>
                <a:spcPts val="277"/>
              </a:spcBef>
              <a:buFont typeface="MS UI Gothic"/>
              <a:buChar char="➢"/>
              <a:tabLst>
                <a:tab pos="362156" algn="l"/>
              </a:tabLst>
            </a:pPr>
            <a:r>
              <a:rPr lang="en-US" sz="2190" b="1" spc="-8" dirty="0">
                <a:latin typeface="Times New Roman"/>
                <a:cs typeface="Times New Roman"/>
              </a:rPr>
              <a:t>Collaborative efforts between data scientists, network security experts, and textile industry professionals are crucial for developing robust intrusion detection systems that effectively safeguard production processes while minimizing false positives and negatives.</a:t>
            </a:r>
          </a:p>
        </p:txBody>
      </p:sp>
      <p:sp>
        <p:nvSpPr>
          <p:cNvPr id="10" name="object 10"/>
          <p:cNvSpPr txBox="1"/>
          <p:nvPr/>
        </p:nvSpPr>
        <p:spPr>
          <a:xfrm>
            <a:off x="280975" y="21259379"/>
            <a:ext cx="20405183" cy="687746"/>
          </a:xfrm>
          <a:prstGeom prst="rect">
            <a:avLst/>
          </a:prstGeom>
        </p:spPr>
        <p:txBody>
          <a:bodyPr vert="horz" wrap="square" lIns="0" tIns="20695" rIns="0" bIns="0" rtlCol="0">
            <a:spAutoFit/>
          </a:bodyPr>
          <a:lstStyle/>
          <a:p>
            <a:pPr marL="361122" marR="8278" indent="-341462">
              <a:lnSpc>
                <a:spcPts val="2591"/>
              </a:lnSpc>
              <a:buFont typeface="MS UI Gothic"/>
              <a:buChar char="➢"/>
              <a:tabLst>
                <a:tab pos="362156" algn="l"/>
              </a:tabLst>
            </a:pPr>
            <a:r>
              <a:rPr lang="en-US" sz="2190" b="1" spc="-8" dirty="0">
                <a:latin typeface="Times New Roman"/>
                <a:cs typeface="Times New Roman"/>
              </a:rPr>
              <a:t>Based</a:t>
            </a:r>
            <a:r>
              <a:rPr lang="en-US" sz="2190" b="1" spc="171" dirty="0">
                <a:latin typeface="Times New Roman"/>
                <a:cs typeface="Times New Roman"/>
              </a:rPr>
              <a:t> </a:t>
            </a:r>
            <a:r>
              <a:rPr lang="en-US" sz="2190" b="1" spc="-8" dirty="0">
                <a:latin typeface="Times New Roman"/>
                <a:cs typeface="Times New Roman"/>
              </a:rPr>
              <a:t>on</a:t>
            </a:r>
            <a:r>
              <a:rPr lang="en-US" sz="2190" b="1" spc="171" dirty="0">
                <a:latin typeface="Times New Roman"/>
                <a:cs typeface="Times New Roman"/>
              </a:rPr>
              <a:t> </a:t>
            </a:r>
            <a:r>
              <a:rPr lang="en-US" sz="2190" b="1" spc="-8" dirty="0">
                <a:latin typeface="Times New Roman"/>
                <a:cs typeface="Times New Roman"/>
              </a:rPr>
              <a:t>the</a:t>
            </a:r>
            <a:r>
              <a:rPr lang="en-US" sz="2190" b="1" spc="171" dirty="0">
                <a:latin typeface="Times New Roman"/>
                <a:cs typeface="Times New Roman"/>
              </a:rPr>
              <a:t> </a:t>
            </a:r>
            <a:r>
              <a:rPr lang="en-US" sz="2190" b="1" spc="-8" dirty="0">
                <a:latin typeface="Times New Roman"/>
                <a:cs typeface="Times New Roman"/>
              </a:rPr>
              <a:t>evaluation</a:t>
            </a:r>
            <a:r>
              <a:rPr lang="en-US" sz="2190" b="1" spc="171" dirty="0">
                <a:latin typeface="Times New Roman"/>
                <a:cs typeface="Times New Roman"/>
              </a:rPr>
              <a:t> </a:t>
            </a:r>
            <a:r>
              <a:rPr lang="en-US" sz="2190" b="1" spc="-8" dirty="0">
                <a:latin typeface="Times New Roman"/>
                <a:cs typeface="Times New Roman"/>
              </a:rPr>
              <a:t>of</a:t>
            </a:r>
            <a:r>
              <a:rPr lang="en-US" sz="2190" b="1" spc="171" dirty="0">
                <a:latin typeface="Times New Roman"/>
                <a:cs typeface="Times New Roman"/>
              </a:rPr>
              <a:t> </a:t>
            </a:r>
            <a:r>
              <a:rPr lang="en-US" sz="2190" b="1" spc="-8" dirty="0">
                <a:latin typeface="Times New Roman"/>
                <a:cs typeface="Times New Roman"/>
              </a:rPr>
              <a:t>Textile production,</a:t>
            </a:r>
            <a:r>
              <a:rPr lang="en-US" sz="2190" b="1" spc="179" dirty="0">
                <a:latin typeface="Times New Roman"/>
                <a:cs typeface="Times New Roman"/>
              </a:rPr>
              <a:t> </a:t>
            </a:r>
            <a:r>
              <a:rPr lang="en-US" sz="2190" b="1" spc="-8" dirty="0">
                <a:latin typeface="Times New Roman"/>
                <a:cs typeface="Times New Roman"/>
              </a:rPr>
              <a:t>the</a:t>
            </a:r>
            <a:r>
              <a:rPr lang="en-US" sz="2190" b="1" spc="171" dirty="0">
                <a:latin typeface="Times New Roman"/>
                <a:cs typeface="Times New Roman"/>
              </a:rPr>
              <a:t> </a:t>
            </a:r>
            <a:r>
              <a:rPr lang="en-US" sz="2190" b="1" spc="-8" dirty="0">
                <a:latin typeface="Times New Roman"/>
                <a:cs typeface="Times New Roman"/>
              </a:rPr>
              <a:t>Independent</a:t>
            </a:r>
            <a:r>
              <a:rPr lang="en-US" sz="2190" b="1" spc="171" dirty="0">
                <a:latin typeface="Times New Roman"/>
                <a:cs typeface="Times New Roman"/>
              </a:rPr>
              <a:t> </a:t>
            </a:r>
            <a:r>
              <a:rPr lang="en-US" sz="2190" b="1" spc="-8" dirty="0">
                <a:latin typeface="Times New Roman"/>
                <a:cs typeface="Times New Roman"/>
              </a:rPr>
              <a:t>sample</a:t>
            </a:r>
            <a:r>
              <a:rPr lang="en-US" sz="2190" b="1" spc="130" dirty="0">
                <a:latin typeface="Times New Roman"/>
                <a:cs typeface="Times New Roman"/>
              </a:rPr>
              <a:t> </a:t>
            </a:r>
            <a:r>
              <a:rPr lang="en-US" sz="2190" b="1" spc="-41" dirty="0">
                <a:latin typeface="Times New Roman"/>
                <a:cs typeface="Times New Roman"/>
              </a:rPr>
              <a:t>T-test</a:t>
            </a:r>
            <a:r>
              <a:rPr lang="en-US" sz="2190" b="1" spc="171" dirty="0">
                <a:latin typeface="Times New Roman"/>
                <a:cs typeface="Times New Roman"/>
              </a:rPr>
              <a:t> </a:t>
            </a:r>
            <a:r>
              <a:rPr lang="en-US" sz="2190" b="1" spc="-8" dirty="0">
                <a:latin typeface="Times New Roman"/>
                <a:cs typeface="Times New Roman"/>
              </a:rPr>
              <a:t>obtained</a:t>
            </a:r>
            <a:r>
              <a:rPr lang="en-US" sz="2190" b="1" spc="171" dirty="0">
                <a:latin typeface="Times New Roman"/>
                <a:cs typeface="Times New Roman"/>
              </a:rPr>
              <a:t> </a:t>
            </a:r>
            <a:r>
              <a:rPr lang="en-US" sz="2190" b="1" spc="-16" dirty="0">
                <a:latin typeface="Times New Roman"/>
                <a:cs typeface="Times New Roman"/>
              </a:rPr>
              <a:t>from</a:t>
            </a:r>
            <a:r>
              <a:rPr lang="en-US" sz="2190" b="1" spc="179" dirty="0">
                <a:latin typeface="Times New Roman"/>
                <a:cs typeface="Times New Roman"/>
              </a:rPr>
              <a:t> </a:t>
            </a:r>
            <a:r>
              <a:rPr lang="en-US" sz="2190" b="1" spc="-8" dirty="0">
                <a:latin typeface="Times New Roman"/>
                <a:cs typeface="Times New Roman"/>
              </a:rPr>
              <a:t>Statistical</a:t>
            </a:r>
            <a:r>
              <a:rPr lang="en-US" sz="2190" b="1" spc="171" dirty="0">
                <a:latin typeface="Times New Roman"/>
                <a:cs typeface="Times New Roman"/>
              </a:rPr>
              <a:t> </a:t>
            </a:r>
            <a:r>
              <a:rPr lang="en-US" sz="2190" b="1" spc="-8" dirty="0">
                <a:latin typeface="Times New Roman"/>
                <a:cs typeface="Times New Roman"/>
              </a:rPr>
              <a:t>package</a:t>
            </a:r>
            <a:r>
              <a:rPr lang="en-US" sz="2190" b="1" spc="171" dirty="0">
                <a:latin typeface="Times New Roman"/>
                <a:cs typeface="Times New Roman"/>
              </a:rPr>
              <a:t> </a:t>
            </a:r>
            <a:r>
              <a:rPr lang="en-US" sz="2190" b="1" spc="-8" dirty="0">
                <a:latin typeface="Times New Roman"/>
                <a:cs typeface="Times New Roman"/>
              </a:rPr>
              <a:t>of</a:t>
            </a:r>
            <a:r>
              <a:rPr lang="en-US" sz="2190" b="1" spc="171" dirty="0">
                <a:latin typeface="Times New Roman"/>
                <a:cs typeface="Times New Roman"/>
              </a:rPr>
              <a:t> </a:t>
            </a:r>
            <a:r>
              <a:rPr lang="en-US" sz="2190" b="1" spc="-8" dirty="0">
                <a:latin typeface="Times New Roman"/>
                <a:cs typeface="Times New Roman"/>
              </a:rPr>
              <a:t>social</a:t>
            </a:r>
            <a:r>
              <a:rPr lang="en-US" sz="2190" b="1" spc="171" dirty="0">
                <a:latin typeface="Times New Roman"/>
                <a:cs typeface="Times New Roman"/>
              </a:rPr>
              <a:t> </a:t>
            </a:r>
            <a:r>
              <a:rPr lang="en-US" sz="2190" b="1" spc="-8" dirty="0">
                <a:latin typeface="Times New Roman"/>
                <a:cs typeface="Times New Roman"/>
              </a:rPr>
              <a:t>science </a:t>
            </a:r>
            <a:r>
              <a:rPr lang="en-US" sz="2190" b="1" spc="-521" dirty="0">
                <a:latin typeface="Times New Roman"/>
                <a:cs typeface="Times New Roman"/>
              </a:rPr>
              <a:t> </a:t>
            </a:r>
            <a:r>
              <a:rPr lang="en-US" sz="2190" b="1" spc="-8" dirty="0">
                <a:latin typeface="Times New Roman"/>
                <a:cs typeface="Times New Roman"/>
              </a:rPr>
              <a:t>(SPSS) </a:t>
            </a:r>
            <a:r>
              <a:rPr lang="en-US" sz="2190" b="1" spc="-16" dirty="0">
                <a:latin typeface="Times New Roman"/>
                <a:cs typeface="Times New Roman"/>
              </a:rPr>
              <a:t>software</a:t>
            </a:r>
            <a:r>
              <a:rPr lang="en-US" sz="2190" b="1" spc="-8" dirty="0">
                <a:latin typeface="Times New Roman"/>
                <a:cs typeface="Times New Roman"/>
              </a:rPr>
              <a:t> the </a:t>
            </a:r>
            <a:r>
              <a:rPr lang="en-US" sz="2190" b="1" spc="-16" dirty="0">
                <a:latin typeface="Times New Roman"/>
                <a:cs typeface="Times New Roman"/>
              </a:rPr>
              <a:t>threshold</a:t>
            </a:r>
            <a:r>
              <a:rPr lang="en-US" sz="2190" b="1" spc="-8" dirty="0">
                <a:latin typeface="Times New Roman"/>
                <a:cs typeface="Times New Roman"/>
              </a:rPr>
              <a:t> value p = 0.128 (</a:t>
            </a:r>
            <a:r>
              <a:rPr lang="en-US" sz="2190" b="1" dirty="0">
                <a:latin typeface="Times New Roman"/>
                <a:cs typeface="Times New Roman"/>
              </a:rPr>
              <a:t>Logistic regression vs XG Boost</a:t>
            </a:r>
            <a:r>
              <a:rPr lang="en-US" sz="2190" b="1" spc="-16" dirty="0">
                <a:latin typeface="Times New Roman"/>
                <a:cs typeface="Times New Roman"/>
              </a:rPr>
              <a:t>)</a:t>
            </a:r>
            <a:endParaRPr lang="en-US" sz="2190" dirty="0">
              <a:latin typeface="Times New Roman"/>
              <a:cs typeface="Times New Roman"/>
            </a:endParaRPr>
          </a:p>
        </p:txBody>
      </p:sp>
      <p:sp>
        <p:nvSpPr>
          <p:cNvPr id="11" name="object 11"/>
          <p:cNvSpPr txBox="1"/>
          <p:nvPr/>
        </p:nvSpPr>
        <p:spPr>
          <a:xfrm>
            <a:off x="280975" y="5054414"/>
            <a:ext cx="13947787" cy="4762973"/>
          </a:xfrm>
          <a:prstGeom prst="rect">
            <a:avLst/>
          </a:prstGeom>
        </p:spPr>
        <p:txBody>
          <a:bodyPr vert="horz" wrap="square" lIns="0" tIns="35181" rIns="0" bIns="0" rtlCol="0">
            <a:spAutoFit/>
          </a:bodyPr>
          <a:lstStyle/>
          <a:p>
            <a:pPr marL="361122" marR="8278" indent="-341462" algn="just">
              <a:spcBef>
                <a:spcPts val="277"/>
              </a:spcBef>
              <a:buFont typeface="MS UI Gothic"/>
              <a:buChar char="➢"/>
              <a:tabLst>
                <a:tab pos="362156" algn="l"/>
              </a:tabLst>
            </a:pPr>
            <a:r>
              <a:rPr lang="en-US" sz="2190" b="1" dirty="0">
                <a:latin typeface="Times New Roman"/>
                <a:cs typeface="Times New Roman"/>
              </a:rPr>
              <a:t>Overview of machine learning as a transformative force in various industrial domains, including textiles.</a:t>
            </a:r>
          </a:p>
          <a:p>
            <a:pPr marL="361122" marR="8278" indent="-341462" algn="just">
              <a:spcBef>
                <a:spcPts val="277"/>
              </a:spcBef>
              <a:buFont typeface="MS UI Gothic"/>
              <a:buChar char="➢"/>
              <a:tabLst>
                <a:tab pos="362156" algn="l"/>
              </a:tabLst>
            </a:pPr>
            <a:r>
              <a:rPr lang="en-US" sz="2190" b="1" dirty="0">
                <a:latin typeface="Times New Roman"/>
                <a:cs typeface="Times New Roman"/>
              </a:rPr>
              <a:t>Focus on predictive modeling capabilities of machine learning in revolutionizing textile production processes.</a:t>
            </a:r>
          </a:p>
          <a:p>
            <a:pPr marL="361122" marR="8278" indent="-341462" algn="just">
              <a:spcBef>
                <a:spcPts val="277"/>
              </a:spcBef>
              <a:buFont typeface="MS UI Gothic"/>
              <a:buChar char="➢"/>
              <a:tabLst>
                <a:tab pos="362156" algn="l"/>
              </a:tabLst>
            </a:pPr>
            <a:r>
              <a:rPr lang="en-US" sz="2190" b="1" dirty="0">
                <a:latin typeface="Times New Roman"/>
                <a:cs typeface="Times New Roman"/>
              </a:rPr>
              <a:t>Motivation behind the research: enhancing predictive capabilities in textile production.</a:t>
            </a:r>
          </a:p>
          <a:p>
            <a:pPr marL="361122" marR="8278" indent="-341462" algn="just">
              <a:spcBef>
                <a:spcPts val="277"/>
              </a:spcBef>
              <a:buFont typeface="MS UI Gothic"/>
              <a:buChar char="➢"/>
              <a:tabLst>
                <a:tab pos="362156" algn="l"/>
              </a:tabLst>
            </a:pPr>
            <a:r>
              <a:rPr lang="en-US" sz="2190" b="1" dirty="0">
                <a:latin typeface="Times New Roman"/>
                <a:cs typeface="Times New Roman"/>
              </a:rPr>
              <a:t>Comparative investigation between XGBoost and Logistic Regression as prominent machine learning models.</a:t>
            </a:r>
          </a:p>
          <a:p>
            <a:pPr marL="361122" marR="8278" indent="-341462" algn="just">
              <a:spcBef>
                <a:spcPts val="277"/>
              </a:spcBef>
              <a:buFont typeface="MS UI Gothic"/>
              <a:buChar char="➢"/>
              <a:tabLst>
                <a:tab pos="362156" algn="l"/>
              </a:tabLst>
            </a:pPr>
            <a:r>
              <a:rPr lang="en-US" sz="2190" b="1" dirty="0">
                <a:latin typeface="Times New Roman"/>
                <a:cs typeface="Times New Roman"/>
              </a:rPr>
              <a:t>This study delves into the realm of textile production prediction, aiming to discern the most effective machine learning approach.</a:t>
            </a:r>
          </a:p>
          <a:p>
            <a:pPr marL="361122" marR="8278" indent="-341462" algn="just">
              <a:spcBef>
                <a:spcPts val="277"/>
              </a:spcBef>
              <a:buFont typeface="MS UI Gothic"/>
              <a:buChar char="➢"/>
              <a:tabLst>
                <a:tab pos="362156" algn="l"/>
              </a:tabLst>
            </a:pPr>
            <a:r>
              <a:rPr lang="en-US" sz="2190" b="1" dirty="0">
                <a:latin typeface="Times New Roman"/>
                <a:cs typeface="Times New Roman"/>
              </a:rPr>
              <a:t>Two groups were analyzed in this research. </a:t>
            </a:r>
          </a:p>
          <a:p>
            <a:pPr marL="19660" marR="8278" algn="just">
              <a:spcBef>
                <a:spcPts val="277"/>
              </a:spcBef>
              <a:tabLst>
                <a:tab pos="362156" algn="l"/>
              </a:tabLst>
            </a:pPr>
            <a:r>
              <a:rPr lang="en-US" sz="2190" b="1" dirty="0">
                <a:latin typeface="Times New Roman"/>
                <a:cs typeface="Times New Roman"/>
              </a:rPr>
              <a:t>                                   Group 1: XGBoost Algorithm, </a:t>
            </a:r>
          </a:p>
          <a:p>
            <a:pPr marL="19660" marR="8278" algn="just">
              <a:spcBef>
                <a:spcPts val="277"/>
              </a:spcBef>
              <a:tabLst>
                <a:tab pos="362156" algn="l"/>
              </a:tabLst>
            </a:pPr>
            <a:r>
              <a:rPr lang="en-US" sz="2190" b="1" dirty="0">
                <a:latin typeface="Times New Roman"/>
                <a:cs typeface="Times New Roman"/>
              </a:rPr>
              <a:t>                                   Group 2: Logistic Regression Algorithm. </a:t>
            </a:r>
          </a:p>
          <a:p>
            <a:pPr marL="361122" marR="8278" indent="-341462" algn="just">
              <a:spcBef>
                <a:spcPts val="277"/>
              </a:spcBef>
              <a:buFont typeface="MS UI Gothic"/>
              <a:buChar char="➢"/>
              <a:tabLst>
                <a:tab pos="362156" algn="l"/>
              </a:tabLst>
            </a:pPr>
            <a:r>
              <a:rPr lang="en-US" sz="2190" b="1" dirty="0">
                <a:latin typeface="Times New Roman"/>
                <a:cs typeface="Times New Roman"/>
              </a:rPr>
              <a:t>This study delves into the realm of textile production prediction, aiming to discern the most effective machine learning approach.</a:t>
            </a:r>
          </a:p>
          <a:p>
            <a:pPr marL="361122" marR="8278" indent="-341462" algn="just">
              <a:spcBef>
                <a:spcPts val="277"/>
              </a:spcBef>
              <a:buFont typeface="MS UI Gothic"/>
              <a:buChar char="➢"/>
              <a:tabLst>
                <a:tab pos="362156" algn="l"/>
              </a:tabLst>
            </a:pPr>
            <a:r>
              <a:rPr lang="en-US" sz="2190" b="1" dirty="0">
                <a:latin typeface="Times New Roman"/>
                <a:cs typeface="Times New Roman"/>
              </a:rPr>
              <a:t> The successful implementation of an optimal machine learning model in textile production prediction holds the potential to revolutionize industry practices.</a:t>
            </a:r>
          </a:p>
        </p:txBody>
      </p:sp>
      <p:grpSp>
        <p:nvGrpSpPr>
          <p:cNvPr id="39" name="object 39"/>
          <p:cNvGrpSpPr/>
          <p:nvPr/>
        </p:nvGrpSpPr>
        <p:grpSpPr>
          <a:xfrm>
            <a:off x="-4" y="-31002"/>
            <a:ext cx="21599525" cy="2543282"/>
            <a:chOff x="1530" y="0"/>
            <a:chExt cx="10050780" cy="1558925"/>
          </a:xfrm>
        </p:grpSpPr>
        <p:sp>
          <p:nvSpPr>
            <p:cNvPr id="52" name="object 52"/>
            <p:cNvSpPr/>
            <p:nvPr/>
          </p:nvSpPr>
          <p:spPr>
            <a:xfrm>
              <a:off x="1530" y="0"/>
              <a:ext cx="10050780" cy="1558925"/>
            </a:xfrm>
            <a:custGeom>
              <a:avLst/>
              <a:gdLst/>
              <a:ahLst/>
              <a:cxnLst/>
              <a:rect l="l" t="t" r="r" b="b"/>
              <a:pathLst>
                <a:path w="10050780" h="1558925">
                  <a:moveTo>
                    <a:pt x="0" y="1558393"/>
                  </a:moveTo>
                  <a:lnTo>
                    <a:pt x="10050518" y="1558393"/>
                  </a:lnTo>
                  <a:lnTo>
                    <a:pt x="10050518" y="0"/>
                  </a:lnTo>
                  <a:lnTo>
                    <a:pt x="0" y="0"/>
                  </a:lnTo>
                  <a:lnTo>
                    <a:pt x="0" y="1558393"/>
                  </a:lnTo>
                  <a:close/>
                </a:path>
              </a:pathLst>
            </a:custGeom>
            <a:solidFill>
              <a:srgbClr val="828282"/>
            </a:solidFill>
          </p:spPr>
          <p:txBody>
            <a:bodyPr wrap="square" lIns="0" tIns="0" rIns="0" bIns="0" rtlCol="0"/>
            <a:lstStyle/>
            <a:p>
              <a:endParaRPr sz="5288"/>
            </a:p>
          </p:txBody>
        </p:sp>
        <p:pic>
          <p:nvPicPr>
            <p:cNvPr id="53" name="object 53"/>
            <p:cNvPicPr/>
            <p:nvPr/>
          </p:nvPicPr>
          <p:blipFill>
            <a:blip r:embed="rId2" cstate="print"/>
            <a:stretch>
              <a:fillRect/>
            </a:stretch>
          </p:blipFill>
          <p:spPr>
            <a:xfrm>
              <a:off x="87314" y="100307"/>
              <a:ext cx="9885175" cy="1365230"/>
            </a:xfrm>
            <a:prstGeom prst="rect">
              <a:avLst/>
            </a:prstGeom>
          </p:spPr>
        </p:pic>
      </p:grpSp>
      <p:sp>
        <p:nvSpPr>
          <p:cNvPr id="54" name="object 54"/>
          <p:cNvSpPr txBox="1"/>
          <p:nvPr/>
        </p:nvSpPr>
        <p:spPr>
          <a:xfrm>
            <a:off x="-4" y="2264095"/>
            <a:ext cx="21599527" cy="2261604"/>
          </a:xfrm>
          <a:prstGeom prst="rect">
            <a:avLst/>
          </a:prstGeom>
        </p:spPr>
        <p:txBody>
          <a:bodyPr vert="horz" wrap="square" lIns="0" tIns="25868" rIns="0" bIns="0" rtlCol="0">
            <a:spAutoFit/>
          </a:bodyPr>
          <a:lstStyle/>
          <a:p>
            <a:pPr algn="ctr">
              <a:spcBef>
                <a:spcPts val="81"/>
              </a:spcBef>
            </a:pPr>
            <a:endParaRPr lang="en-US" sz="3590" b="1" dirty="0">
              <a:solidFill>
                <a:srgbClr val="000000"/>
              </a:solidFill>
              <a:latin typeface="Times New Roman" panose="02020603050405020304" pitchFamily="18" charset="0"/>
            </a:endParaRPr>
          </a:p>
          <a:p>
            <a:pPr algn="ctr">
              <a:spcBef>
                <a:spcPts val="81"/>
              </a:spcBef>
            </a:pPr>
            <a:r>
              <a:rPr lang="en-US" sz="3590" b="1" dirty="0">
                <a:solidFill>
                  <a:srgbClr val="000000"/>
                </a:solidFill>
                <a:latin typeface="Times New Roman" panose="02020603050405020304" pitchFamily="18" charset="0"/>
              </a:rPr>
              <a:t>Machine Learning Model Selection for Textile Production Prediction: A Comparative Investigation of XG Boost and Logistic Regression</a:t>
            </a:r>
          </a:p>
          <a:p>
            <a:pPr algn="ctr">
              <a:spcBef>
                <a:spcPts val="81"/>
              </a:spcBef>
            </a:pPr>
            <a:endParaRPr lang="en-IN" sz="3590" b="1" dirty="0">
              <a:latin typeface="Times New Roman"/>
              <a:cs typeface="Times New Roman"/>
            </a:endParaRPr>
          </a:p>
        </p:txBody>
      </p:sp>
      <p:pic>
        <p:nvPicPr>
          <p:cNvPr id="92" name="Picture 91">
            <a:extLst>
              <a:ext uri="{FF2B5EF4-FFF2-40B4-BE49-F238E27FC236}">
                <a16:creationId xmlns:a16="http://schemas.microsoft.com/office/drawing/2014/main" id="{3E7B445B-4088-2960-4C67-E250528440D1}"/>
              </a:ext>
            </a:extLst>
          </p:cNvPr>
          <p:cNvPicPr>
            <a:picLocks noChangeAspect="1"/>
          </p:cNvPicPr>
          <p:nvPr/>
        </p:nvPicPr>
        <p:blipFill rotWithShape="1">
          <a:blip r:embed="rId3">
            <a:extLst>
              <a:ext uri="{28A0092B-C50C-407E-A947-70E740481C1C}">
                <a14:useLocalDpi xmlns:a14="http://schemas.microsoft.com/office/drawing/2010/main" val="0"/>
              </a:ext>
            </a:extLst>
          </a:blip>
          <a:srcRect l="8216" t="55479" r="7850" b="3718"/>
          <a:stretch/>
        </p:blipFill>
        <p:spPr>
          <a:xfrm>
            <a:off x="6614077" y="16487685"/>
            <a:ext cx="6221470" cy="4060784"/>
          </a:xfrm>
          <a:prstGeom prst="rect">
            <a:avLst/>
          </a:prstGeom>
        </p:spPr>
      </p:pic>
      <p:pic>
        <p:nvPicPr>
          <p:cNvPr id="57" name="Picture 56">
            <a:extLst>
              <a:ext uri="{FF2B5EF4-FFF2-40B4-BE49-F238E27FC236}">
                <a16:creationId xmlns:a16="http://schemas.microsoft.com/office/drawing/2014/main" id="{BA9151CA-5C28-33D5-5D16-C102DEDEB1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4456334" y="4605828"/>
            <a:ext cx="6859029" cy="4716769"/>
          </a:xfrm>
          <a:prstGeom prst="rect">
            <a:avLst/>
          </a:prstGeom>
        </p:spPr>
      </p:pic>
      <p:graphicFrame>
        <p:nvGraphicFramePr>
          <p:cNvPr id="14" name="Table 13">
            <a:extLst>
              <a:ext uri="{FF2B5EF4-FFF2-40B4-BE49-F238E27FC236}">
                <a16:creationId xmlns:a16="http://schemas.microsoft.com/office/drawing/2014/main" id="{A292E5A7-7DE3-34FD-059F-862E89E1DBCF}"/>
              </a:ext>
            </a:extLst>
          </p:cNvPr>
          <p:cNvGraphicFramePr>
            <a:graphicFrameLocks noGrp="1"/>
          </p:cNvGraphicFramePr>
          <p:nvPr>
            <p:extLst>
              <p:ext uri="{D42A27DB-BD31-4B8C-83A1-F6EECF244321}">
                <p14:modId xmlns:p14="http://schemas.microsoft.com/office/powerpoint/2010/main" val="1122635600"/>
              </p:ext>
            </p:extLst>
          </p:nvPr>
        </p:nvGraphicFramePr>
        <p:xfrm>
          <a:off x="13020746" y="16762552"/>
          <a:ext cx="7665414" cy="4390093"/>
        </p:xfrm>
        <a:graphic>
          <a:graphicData uri="http://schemas.openxmlformats.org/drawingml/2006/table">
            <a:tbl>
              <a:tblPr/>
              <a:tblGrid>
                <a:gridCol w="1277569">
                  <a:extLst>
                    <a:ext uri="{9D8B030D-6E8A-4147-A177-3AD203B41FA5}">
                      <a16:colId xmlns:a16="http://schemas.microsoft.com/office/drawing/2014/main" val="1432283980"/>
                    </a:ext>
                  </a:extLst>
                </a:gridCol>
                <a:gridCol w="1277569">
                  <a:extLst>
                    <a:ext uri="{9D8B030D-6E8A-4147-A177-3AD203B41FA5}">
                      <a16:colId xmlns:a16="http://schemas.microsoft.com/office/drawing/2014/main" val="354792680"/>
                    </a:ext>
                  </a:extLst>
                </a:gridCol>
                <a:gridCol w="1277569">
                  <a:extLst>
                    <a:ext uri="{9D8B030D-6E8A-4147-A177-3AD203B41FA5}">
                      <a16:colId xmlns:a16="http://schemas.microsoft.com/office/drawing/2014/main" val="1040387960"/>
                    </a:ext>
                  </a:extLst>
                </a:gridCol>
                <a:gridCol w="1277569">
                  <a:extLst>
                    <a:ext uri="{9D8B030D-6E8A-4147-A177-3AD203B41FA5}">
                      <a16:colId xmlns:a16="http://schemas.microsoft.com/office/drawing/2014/main" val="301064498"/>
                    </a:ext>
                  </a:extLst>
                </a:gridCol>
                <a:gridCol w="1277569">
                  <a:extLst>
                    <a:ext uri="{9D8B030D-6E8A-4147-A177-3AD203B41FA5}">
                      <a16:colId xmlns:a16="http://schemas.microsoft.com/office/drawing/2014/main" val="136321668"/>
                    </a:ext>
                  </a:extLst>
                </a:gridCol>
                <a:gridCol w="1277569">
                  <a:extLst>
                    <a:ext uri="{9D8B030D-6E8A-4147-A177-3AD203B41FA5}">
                      <a16:colId xmlns:a16="http://schemas.microsoft.com/office/drawing/2014/main" val="1911380739"/>
                    </a:ext>
                  </a:extLst>
                </a:gridCol>
              </a:tblGrid>
              <a:tr h="1321665">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gn="just">
                        <a:lnSpc>
                          <a:spcPct val="114000"/>
                        </a:lnSpc>
                        <a:spcBef>
                          <a:spcPts val="0"/>
                        </a:spcBef>
                        <a:spcAft>
                          <a:spcPts val="0"/>
                        </a:spcAft>
                      </a:pPr>
                      <a:endParaRPr lang="en-IN" sz="2190" b="1" dirty="0">
                        <a:effectLst/>
                        <a:latin typeface="Times New Roman" panose="02020603050405020304" pitchFamily="18" charset="0"/>
                        <a:cs typeface="Times New Roman" panose="02020603050405020304" pitchFamily="18" charset="0"/>
                      </a:endParaRP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gn="just">
                        <a:lnSpc>
                          <a:spcPct val="114000"/>
                        </a:lnSpc>
                        <a:spcBef>
                          <a:spcPts val="0"/>
                        </a:spcBef>
                        <a:spcAft>
                          <a:spcPts val="0"/>
                        </a:spcAft>
                      </a:pPr>
                      <a:r>
                        <a:rPr lang="en-IN" sz="2190" b="1" dirty="0">
                          <a:effectLst/>
                          <a:latin typeface="Times New Roman" panose="02020603050405020304" pitchFamily="18" charset="0"/>
                          <a:cs typeface="Times New Roman" panose="02020603050405020304" pitchFamily="18" charset="0"/>
                        </a:rPr>
                        <a:t>Group</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gn="just">
                        <a:lnSpc>
                          <a:spcPct val="114000"/>
                        </a:lnSpc>
                        <a:spcBef>
                          <a:spcPts val="0"/>
                        </a:spcBef>
                        <a:spcAft>
                          <a:spcPts val="0"/>
                        </a:spcAft>
                      </a:pPr>
                      <a:r>
                        <a:rPr lang="en-IN" sz="2190" b="1">
                          <a:effectLst/>
                          <a:latin typeface="Times New Roman" panose="02020603050405020304" pitchFamily="18" charset="0"/>
                          <a:cs typeface="Times New Roman" panose="02020603050405020304" pitchFamily="18" charset="0"/>
                        </a:rPr>
                        <a:t>N</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gn="just">
                        <a:lnSpc>
                          <a:spcPct val="114000"/>
                        </a:lnSpc>
                        <a:spcBef>
                          <a:spcPts val="0"/>
                        </a:spcBef>
                        <a:spcAft>
                          <a:spcPts val="0"/>
                        </a:spcAft>
                      </a:pPr>
                      <a:r>
                        <a:rPr lang="en-IN" sz="2190" b="1">
                          <a:effectLst/>
                          <a:latin typeface="Times New Roman" panose="02020603050405020304" pitchFamily="18" charset="0"/>
                          <a:cs typeface="Times New Roman" panose="02020603050405020304" pitchFamily="18" charset="0"/>
                        </a:rPr>
                        <a:t>Mean</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gn="just">
                        <a:lnSpc>
                          <a:spcPct val="114000"/>
                        </a:lnSpc>
                        <a:spcBef>
                          <a:spcPts val="0"/>
                        </a:spcBef>
                        <a:spcAft>
                          <a:spcPts val="0"/>
                        </a:spcAft>
                      </a:pPr>
                      <a:r>
                        <a:rPr lang="en-IN" sz="2190" b="1">
                          <a:effectLst/>
                          <a:latin typeface="Times New Roman" panose="02020603050405020304" pitchFamily="18" charset="0"/>
                          <a:cs typeface="Times New Roman" panose="02020603050405020304" pitchFamily="18" charset="0"/>
                        </a:rPr>
                        <a:t>Std. Deviation</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gn="just">
                        <a:lnSpc>
                          <a:spcPct val="114000"/>
                        </a:lnSpc>
                        <a:spcBef>
                          <a:spcPts val="0"/>
                        </a:spcBef>
                        <a:spcAft>
                          <a:spcPts val="0"/>
                        </a:spcAft>
                      </a:pPr>
                      <a:r>
                        <a:rPr lang="en-IN" sz="2190" b="1" dirty="0">
                          <a:effectLst/>
                          <a:latin typeface="Times New Roman" panose="02020603050405020304" pitchFamily="18" charset="0"/>
                          <a:cs typeface="Times New Roman" panose="02020603050405020304" pitchFamily="18" charset="0"/>
                        </a:rPr>
                        <a:t>Std. Error Mean</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785217734"/>
                  </a:ext>
                </a:extLst>
              </a:tr>
              <a:tr h="1445833">
                <a:tc rowSpan="2">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gn="just">
                        <a:lnSpc>
                          <a:spcPct val="114000"/>
                        </a:lnSpc>
                        <a:spcBef>
                          <a:spcPts val="0"/>
                        </a:spcBef>
                        <a:spcAft>
                          <a:spcPts val="0"/>
                        </a:spcAft>
                      </a:pPr>
                      <a:r>
                        <a:rPr lang="en-IN" sz="2190" b="1" dirty="0">
                          <a:effectLst/>
                          <a:latin typeface="Times New Roman" panose="02020603050405020304" pitchFamily="18" charset="0"/>
                          <a:cs typeface="Times New Roman" panose="02020603050405020304" pitchFamily="18" charset="0"/>
                        </a:rPr>
                        <a:t> </a:t>
                      </a:r>
                    </a:p>
                    <a:p>
                      <a:pPr marL="0" marR="0" algn="just">
                        <a:lnSpc>
                          <a:spcPct val="114000"/>
                        </a:lnSpc>
                        <a:spcBef>
                          <a:spcPts val="0"/>
                        </a:spcBef>
                        <a:spcAft>
                          <a:spcPts val="0"/>
                        </a:spcAft>
                      </a:pPr>
                      <a:r>
                        <a:rPr lang="en-IN" sz="2190" b="1" dirty="0">
                          <a:effectLst/>
                          <a:latin typeface="Times New Roman" panose="02020603050405020304" pitchFamily="18" charset="0"/>
                          <a:cs typeface="Times New Roman" panose="02020603050405020304" pitchFamily="18" charset="0"/>
                        </a:rPr>
                        <a:t> </a:t>
                      </a:r>
                    </a:p>
                    <a:p>
                      <a:pPr marL="0" marR="0" algn="just">
                        <a:lnSpc>
                          <a:spcPct val="114000"/>
                        </a:lnSpc>
                        <a:spcBef>
                          <a:spcPts val="0"/>
                        </a:spcBef>
                        <a:spcAft>
                          <a:spcPts val="0"/>
                        </a:spcAft>
                      </a:pPr>
                      <a:r>
                        <a:rPr lang="en-IN" sz="2190" b="1" dirty="0">
                          <a:effectLst/>
                          <a:latin typeface="Times New Roman" panose="02020603050405020304" pitchFamily="18" charset="0"/>
                          <a:cs typeface="Times New Roman" panose="02020603050405020304" pitchFamily="18" charset="0"/>
                        </a:rPr>
                        <a:t>Accuracy</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nSpc>
                          <a:spcPct val="114000"/>
                        </a:lnSpc>
                        <a:spcBef>
                          <a:spcPts val="555"/>
                        </a:spcBef>
                        <a:spcAft>
                          <a:spcPts val="0"/>
                        </a:spcAft>
                      </a:pPr>
                      <a:r>
                        <a:rPr lang="en-IN" sz="2190" b="1" dirty="0">
                          <a:effectLst/>
                          <a:latin typeface="Times New Roman" panose="02020603050405020304" pitchFamily="18" charset="0"/>
                          <a:cs typeface="Times New Roman" panose="02020603050405020304" pitchFamily="18" charset="0"/>
                        </a:rPr>
                        <a:t>RANDOM</a:t>
                      </a:r>
                    </a:p>
                    <a:p>
                      <a:pPr marL="0" marR="0">
                        <a:lnSpc>
                          <a:spcPct val="114000"/>
                        </a:lnSpc>
                        <a:spcBef>
                          <a:spcPts val="555"/>
                        </a:spcBef>
                        <a:spcAft>
                          <a:spcPts val="0"/>
                        </a:spcAft>
                      </a:pPr>
                      <a:r>
                        <a:rPr lang="en-IN" sz="2190" b="1" dirty="0">
                          <a:effectLst/>
                          <a:latin typeface="Times New Roman" panose="02020603050405020304" pitchFamily="18" charset="0"/>
                          <a:cs typeface="Times New Roman" panose="02020603050405020304" pitchFamily="18" charset="0"/>
                        </a:rPr>
                        <a:t>FOREST</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294640" marR="0" indent="0">
                        <a:lnSpc>
                          <a:spcPct val="114000"/>
                        </a:lnSpc>
                        <a:spcBef>
                          <a:spcPts val="505"/>
                        </a:spcBef>
                        <a:spcAft>
                          <a:spcPts val="0"/>
                        </a:spcAft>
                      </a:pPr>
                      <a:r>
                        <a:rPr lang="en-IN" sz="2190" b="1" dirty="0">
                          <a:effectLst/>
                          <a:latin typeface="Times New Roman" panose="02020603050405020304" pitchFamily="18" charset="0"/>
                          <a:cs typeface="Times New Roman" panose="02020603050405020304" pitchFamily="18" charset="0"/>
                        </a:rPr>
                        <a:t>10</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228600" marR="222250" indent="0" algn="ctr">
                        <a:lnSpc>
                          <a:spcPct val="114000"/>
                        </a:lnSpc>
                        <a:spcBef>
                          <a:spcPts val="505"/>
                        </a:spcBef>
                        <a:spcAft>
                          <a:spcPts val="0"/>
                        </a:spcAft>
                      </a:pPr>
                      <a:r>
                        <a:rPr lang="en-IN" sz="2190" b="1" dirty="0">
                          <a:effectLst/>
                          <a:latin typeface="Times New Roman" panose="02020603050405020304" pitchFamily="18" charset="0"/>
                          <a:cs typeface="Times New Roman" panose="02020603050405020304" pitchFamily="18" charset="0"/>
                        </a:rPr>
                        <a:t>61.18</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104140" marR="100965" indent="0" algn="ctr">
                        <a:lnSpc>
                          <a:spcPct val="114000"/>
                        </a:lnSpc>
                        <a:spcBef>
                          <a:spcPts val="505"/>
                        </a:spcBef>
                        <a:spcAft>
                          <a:spcPts val="0"/>
                        </a:spcAft>
                      </a:pPr>
                      <a:r>
                        <a:rPr lang="en-IN" sz="2190" b="1" dirty="0">
                          <a:effectLst/>
                          <a:latin typeface="Times New Roman" panose="02020603050405020304" pitchFamily="18" charset="0"/>
                          <a:cs typeface="Times New Roman" panose="02020603050405020304" pitchFamily="18" charset="0"/>
                        </a:rPr>
                        <a:t>30.15544</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109220" marR="99695" indent="0" algn="ctr">
                        <a:lnSpc>
                          <a:spcPct val="114000"/>
                        </a:lnSpc>
                        <a:spcBef>
                          <a:spcPts val="505"/>
                        </a:spcBef>
                        <a:spcAft>
                          <a:spcPts val="0"/>
                        </a:spcAft>
                      </a:pPr>
                      <a:r>
                        <a:rPr lang="en-IN" sz="2190" b="1" dirty="0">
                          <a:effectLst/>
                          <a:latin typeface="Times New Roman" panose="02020603050405020304" pitchFamily="18" charset="0"/>
                          <a:cs typeface="Times New Roman" panose="02020603050405020304" pitchFamily="18" charset="0"/>
                        </a:rPr>
                        <a:t>9.53599</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2650531315"/>
                  </a:ext>
                </a:extLst>
              </a:tr>
              <a:tr h="1293286">
                <a:tc vMerge="1">
                  <a:txBody>
                    <a:bodyPr/>
                    <a:lstStyle/>
                    <a:p>
                      <a:endParaRPr lang="en-IN"/>
                    </a:p>
                  </a:txBody>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nSpc>
                          <a:spcPct val="114000"/>
                        </a:lnSpc>
                        <a:spcBef>
                          <a:spcPts val="555"/>
                        </a:spcBef>
                        <a:spcAft>
                          <a:spcPts val="0"/>
                        </a:spcAft>
                      </a:pPr>
                      <a:r>
                        <a:rPr lang="en-IN" sz="2190" b="1" dirty="0">
                          <a:effectLst/>
                          <a:latin typeface="Times New Roman" panose="02020603050405020304" pitchFamily="18" charset="0"/>
                          <a:cs typeface="Times New Roman" panose="02020603050405020304" pitchFamily="18" charset="0"/>
                        </a:rPr>
                        <a:t>XG BOOST</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0" marR="0">
                        <a:lnSpc>
                          <a:spcPct val="114000"/>
                        </a:lnSpc>
                        <a:spcBef>
                          <a:spcPts val="555"/>
                        </a:spcBef>
                        <a:spcAft>
                          <a:spcPts val="0"/>
                        </a:spcAft>
                      </a:pPr>
                      <a:r>
                        <a:rPr lang="en-IN" sz="2190" b="1" dirty="0">
                          <a:effectLst/>
                          <a:latin typeface="Times New Roman" panose="02020603050405020304" pitchFamily="18" charset="0"/>
                          <a:cs typeface="Times New Roman" panose="02020603050405020304" pitchFamily="18" charset="0"/>
                        </a:rPr>
                        <a:t>    10</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228600" marR="222250" indent="0" algn="ctr">
                        <a:lnSpc>
                          <a:spcPct val="114000"/>
                        </a:lnSpc>
                        <a:spcBef>
                          <a:spcPts val="555"/>
                        </a:spcBef>
                        <a:spcAft>
                          <a:spcPts val="0"/>
                        </a:spcAft>
                      </a:pPr>
                      <a:r>
                        <a:rPr lang="en-IN" sz="2190" b="1" dirty="0">
                          <a:effectLst/>
                          <a:latin typeface="Times New Roman" panose="02020603050405020304" pitchFamily="18" charset="0"/>
                          <a:cs typeface="Times New Roman" panose="02020603050405020304" pitchFamily="18" charset="0"/>
                        </a:rPr>
                        <a:t>63.38</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104140" marR="100965" indent="0" algn="ctr">
                        <a:lnSpc>
                          <a:spcPct val="114000"/>
                        </a:lnSpc>
                        <a:spcBef>
                          <a:spcPts val="555"/>
                        </a:spcBef>
                        <a:spcAft>
                          <a:spcPts val="0"/>
                        </a:spcAft>
                      </a:pPr>
                      <a:r>
                        <a:rPr lang="en-IN" sz="2190" b="1" dirty="0">
                          <a:effectLst/>
                          <a:latin typeface="Times New Roman" panose="02020603050405020304" pitchFamily="18" charset="0"/>
                          <a:cs typeface="Times New Roman" panose="02020603050405020304" pitchFamily="18" charset="0"/>
                        </a:rPr>
                        <a:t>36.0354</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tc>
                  <a:txBody>
                    <a:bodyPr/>
                    <a:lstStyle>
                      <a:lvl1pPr marL="0">
                        <a:defRPr>
                          <a:solidFill>
                            <a:schemeClr val="tx1"/>
                          </a:solidFill>
                          <a:latin typeface="Arial"/>
                        </a:defRPr>
                      </a:lvl1pPr>
                      <a:lvl2pPr marL="457200">
                        <a:defRPr>
                          <a:solidFill>
                            <a:schemeClr val="tx1"/>
                          </a:solidFill>
                          <a:latin typeface="Arial"/>
                        </a:defRPr>
                      </a:lvl2pPr>
                      <a:lvl3pPr marL="914400">
                        <a:defRPr>
                          <a:solidFill>
                            <a:schemeClr val="tx1"/>
                          </a:solidFill>
                          <a:latin typeface="Arial"/>
                        </a:defRPr>
                      </a:lvl3pPr>
                      <a:lvl4pPr marL="1371600">
                        <a:defRPr>
                          <a:solidFill>
                            <a:schemeClr val="tx1"/>
                          </a:solidFill>
                          <a:latin typeface="Arial"/>
                        </a:defRPr>
                      </a:lvl4pPr>
                      <a:lvl5pPr marL="1828800">
                        <a:defRPr>
                          <a:solidFill>
                            <a:schemeClr val="tx1"/>
                          </a:solidFill>
                          <a:latin typeface="Arial"/>
                        </a:defRPr>
                      </a:lvl5pPr>
                      <a:lvl6pPr marL="2286000">
                        <a:defRPr>
                          <a:solidFill>
                            <a:schemeClr val="tx1"/>
                          </a:solidFill>
                          <a:latin typeface="Arial"/>
                        </a:defRPr>
                      </a:lvl6pPr>
                      <a:lvl7pPr marL="2743200">
                        <a:defRPr>
                          <a:solidFill>
                            <a:schemeClr val="tx1"/>
                          </a:solidFill>
                          <a:latin typeface="Arial"/>
                        </a:defRPr>
                      </a:lvl7pPr>
                      <a:lvl8pPr marL="3200400">
                        <a:defRPr>
                          <a:solidFill>
                            <a:schemeClr val="tx1"/>
                          </a:solidFill>
                          <a:latin typeface="Arial"/>
                        </a:defRPr>
                      </a:lvl8pPr>
                      <a:lvl9pPr marL="3657600">
                        <a:defRPr>
                          <a:solidFill>
                            <a:schemeClr val="tx1"/>
                          </a:solidFill>
                          <a:latin typeface="Arial"/>
                        </a:defRPr>
                      </a:lvl9pPr>
                    </a:lstStyle>
                    <a:p>
                      <a:pPr marL="109220" marR="99695" indent="0" algn="ctr">
                        <a:lnSpc>
                          <a:spcPct val="114000"/>
                        </a:lnSpc>
                        <a:spcBef>
                          <a:spcPts val="555"/>
                        </a:spcBef>
                        <a:spcAft>
                          <a:spcPts val="0"/>
                        </a:spcAft>
                      </a:pPr>
                      <a:r>
                        <a:rPr lang="en-IN" sz="2190" b="1" dirty="0">
                          <a:effectLst/>
                          <a:latin typeface="Times New Roman" panose="02020603050405020304" pitchFamily="18" charset="0"/>
                          <a:cs typeface="Times New Roman" panose="02020603050405020304" pitchFamily="18" charset="0"/>
                        </a:rPr>
                        <a:t>11.39847</a:t>
                      </a:r>
                    </a:p>
                  </a:txBody>
                  <a:tcPr marL="103473" marR="103473" marT="103473" marB="103473">
                    <a:lnL w="12700" cmpd="sng">
                      <a:solidFill>
                        <a:srgbClr val="000000"/>
                      </a:solidFill>
                    </a:lnL>
                    <a:lnR w="12700" cmpd="sng">
                      <a:solidFill>
                        <a:srgbClr val="000000"/>
                      </a:solidFill>
                    </a:lnR>
                    <a:lnT w="12700" cmpd="sng">
                      <a:solidFill>
                        <a:srgbClr val="000000"/>
                      </a:solidFill>
                    </a:lnT>
                    <a:lnB w="12700" cmpd="sng">
                      <a:solidFill>
                        <a:srgbClr val="000000"/>
                      </a:solidFill>
                    </a:lnB>
                    <a:lnTlToBr w="12700" cmpd="sng">
                      <a:noFill/>
                      <a:prstDash val="solid"/>
                    </a:lnTlToBr>
                    <a:lnBlToTr w="12700" cmpd="sng">
                      <a:noFill/>
                      <a:prstDash val="solid"/>
                    </a:lnBlToTr>
                    <a:noFill/>
                  </a:tcPr>
                </a:tc>
                <a:extLst>
                  <a:ext uri="{0D108BD9-81ED-4DB2-BD59-A6C34878D82A}">
                    <a16:rowId xmlns:a16="http://schemas.microsoft.com/office/drawing/2014/main" val="633043047"/>
                  </a:ext>
                </a:extLst>
              </a:tr>
            </a:tbl>
          </a:graphicData>
        </a:graphic>
      </p:graphicFrame>
      <p:pic>
        <p:nvPicPr>
          <p:cNvPr id="110" name="Picture 109">
            <a:extLst>
              <a:ext uri="{FF2B5EF4-FFF2-40B4-BE49-F238E27FC236}">
                <a16:creationId xmlns:a16="http://schemas.microsoft.com/office/drawing/2014/main" id="{3D7A3925-5F87-9271-B248-8ABBCD2B13B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27364" y="10686320"/>
            <a:ext cx="19944796" cy="5109099"/>
          </a:xfrm>
          <a:prstGeom prst="rect">
            <a:avLst/>
          </a:prstGeom>
        </p:spPr>
      </p:pic>
      <p:sp>
        <p:nvSpPr>
          <p:cNvPr id="72" name="TextBox 71">
            <a:extLst>
              <a:ext uri="{FF2B5EF4-FFF2-40B4-BE49-F238E27FC236}">
                <a16:creationId xmlns:a16="http://schemas.microsoft.com/office/drawing/2014/main" id="{DADF218E-F87A-9F2E-555E-02FF506B059F}"/>
              </a:ext>
            </a:extLst>
          </p:cNvPr>
          <p:cNvSpPr txBox="1"/>
          <p:nvPr/>
        </p:nvSpPr>
        <p:spPr>
          <a:xfrm>
            <a:off x="17605787" y="1356597"/>
            <a:ext cx="3988336" cy="1103379"/>
          </a:xfrm>
          <a:prstGeom prst="rect">
            <a:avLst/>
          </a:prstGeom>
          <a:noFill/>
        </p:spPr>
        <p:txBody>
          <a:bodyPr wrap="none" rtlCol="0">
            <a:spAutoFit/>
          </a:bodyPr>
          <a:lstStyle/>
          <a:p>
            <a:pPr algn="r">
              <a:buSzPts val="2500"/>
            </a:pPr>
            <a:r>
              <a:rPr lang="en-IN" sz="2190" b="1" dirty="0">
                <a:solidFill>
                  <a:schemeClr val="lt1"/>
                </a:solidFill>
                <a:latin typeface="Times New Roman" panose="02020603050405020304" pitchFamily="18" charset="0"/>
                <a:ea typeface="Calibri"/>
                <a:cs typeface="Times New Roman" panose="02020603050405020304" pitchFamily="18" charset="0"/>
                <a:sym typeface="Calibri"/>
              </a:rPr>
              <a:t>Name : </a:t>
            </a:r>
            <a:r>
              <a:rPr lang="en-IN" sz="2190" b="1" dirty="0" err="1">
                <a:solidFill>
                  <a:schemeClr val="lt1"/>
                </a:solidFill>
                <a:latin typeface="Times New Roman" panose="02020603050405020304" pitchFamily="18" charset="0"/>
                <a:ea typeface="Calibri"/>
                <a:cs typeface="Times New Roman" panose="02020603050405020304" pitchFamily="18" charset="0"/>
                <a:sym typeface="Calibri"/>
              </a:rPr>
              <a:t>S.Ashish</a:t>
            </a:r>
            <a:r>
              <a:rPr lang="en-IN" sz="2190" b="1" dirty="0">
                <a:solidFill>
                  <a:schemeClr val="lt1"/>
                </a:solidFill>
                <a:latin typeface="Times New Roman" panose="02020603050405020304" pitchFamily="18" charset="0"/>
                <a:ea typeface="Calibri"/>
                <a:cs typeface="Times New Roman" panose="02020603050405020304" pitchFamily="18" charset="0"/>
                <a:sym typeface="Calibri"/>
              </a:rPr>
              <a:t> Kumar</a:t>
            </a:r>
          </a:p>
          <a:p>
            <a:pPr algn="r">
              <a:buSzPts val="2500"/>
            </a:pPr>
            <a:r>
              <a:rPr lang="en-IN" sz="2190" b="1" dirty="0">
                <a:solidFill>
                  <a:schemeClr val="lt1"/>
                </a:solidFill>
                <a:latin typeface="Times New Roman" panose="02020603050405020304" pitchFamily="18" charset="0"/>
                <a:ea typeface="Calibri"/>
                <a:cs typeface="Times New Roman" panose="02020603050405020304" pitchFamily="18" charset="0"/>
                <a:sym typeface="Calibri"/>
              </a:rPr>
              <a:t>Register Number:192124142</a:t>
            </a:r>
          </a:p>
          <a:p>
            <a:pPr algn="r">
              <a:buSzPts val="2500"/>
            </a:pPr>
            <a:r>
              <a:rPr lang="en-IN" sz="2190" b="1" dirty="0">
                <a:solidFill>
                  <a:schemeClr val="lt1"/>
                </a:solidFill>
                <a:latin typeface="Times New Roman" panose="02020603050405020304" pitchFamily="18" charset="0"/>
                <a:ea typeface="Calibri"/>
                <a:cs typeface="Times New Roman" panose="02020603050405020304" pitchFamily="18" charset="0"/>
                <a:sym typeface="Calibri"/>
              </a:rPr>
              <a:t>Guided By : Dr .</a:t>
            </a:r>
            <a:r>
              <a:rPr lang="en-IN" sz="2190" b="1" dirty="0" err="1">
                <a:solidFill>
                  <a:schemeClr val="lt1"/>
                </a:solidFill>
                <a:latin typeface="Times New Roman" panose="02020603050405020304" pitchFamily="18" charset="0"/>
                <a:ea typeface="Calibri"/>
                <a:cs typeface="Times New Roman" panose="02020603050405020304" pitchFamily="18" charset="0"/>
                <a:sym typeface="Calibri"/>
              </a:rPr>
              <a:t>A.Muniyappan</a:t>
            </a:r>
            <a:endParaRPr lang="en-IN" sz="2190" b="1" dirty="0">
              <a:solidFill>
                <a:schemeClr val="lt1"/>
              </a:solidFill>
              <a:latin typeface="Times New Roman" panose="02020603050405020304" pitchFamily="18" charset="0"/>
              <a:ea typeface="Calibri"/>
              <a:cs typeface="Times New Roman" panose="02020603050405020304" pitchFamily="18" charset="0"/>
              <a:sym typeface="Calibri"/>
            </a:endParaRPr>
          </a:p>
        </p:txBody>
      </p:sp>
      <p:sp>
        <p:nvSpPr>
          <p:cNvPr id="12" name="TextBox 11">
            <a:extLst>
              <a:ext uri="{FF2B5EF4-FFF2-40B4-BE49-F238E27FC236}">
                <a16:creationId xmlns:a16="http://schemas.microsoft.com/office/drawing/2014/main" id="{E5FF8B4B-07B5-BD78-F886-197EE40BB132}"/>
              </a:ext>
            </a:extLst>
          </p:cNvPr>
          <p:cNvSpPr txBox="1"/>
          <p:nvPr/>
        </p:nvSpPr>
        <p:spPr>
          <a:xfrm>
            <a:off x="1452408" y="20663165"/>
            <a:ext cx="2823722" cy="429348"/>
          </a:xfrm>
          <a:prstGeom prst="rect">
            <a:avLst/>
          </a:prstGeom>
          <a:noFill/>
        </p:spPr>
        <p:txBody>
          <a:bodyPr wrap="none" rtlCol="0">
            <a:spAutoFit/>
          </a:bodyPr>
          <a:lstStyle/>
          <a:p>
            <a:r>
              <a:rPr lang="en-IN" sz="2190" b="1" dirty="0">
                <a:latin typeface="Times New Roman" panose="02020603050405020304" pitchFamily="18" charset="0"/>
                <a:cs typeface="Times New Roman" panose="02020603050405020304" pitchFamily="18" charset="0"/>
              </a:rPr>
              <a:t>First Accuracy Graph</a:t>
            </a:r>
          </a:p>
        </p:txBody>
      </p:sp>
      <p:sp>
        <p:nvSpPr>
          <p:cNvPr id="15" name="TextBox 14">
            <a:extLst>
              <a:ext uri="{FF2B5EF4-FFF2-40B4-BE49-F238E27FC236}">
                <a16:creationId xmlns:a16="http://schemas.microsoft.com/office/drawing/2014/main" id="{1AF5A7C2-6A20-9DF8-429D-E7C0120754A0}"/>
              </a:ext>
            </a:extLst>
          </p:cNvPr>
          <p:cNvSpPr txBox="1"/>
          <p:nvPr/>
        </p:nvSpPr>
        <p:spPr>
          <a:xfrm>
            <a:off x="13247209" y="16208770"/>
            <a:ext cx="7212487" cy="429348"/>
          </a:xfrm>
          <a:prstGeom prst="rect">
            <a:avLst/>
          </a:prstGeom>
          <a:noFill/>
        </p:spPr>
        <p:txBody>
          <a:bodyPr wrap="none" rtlCol="0">
            <a:spAutoFit/>
          </a:bodyPr>
          <a:lstStyle/>
          <a:p>
            <a:r>
              <a:rPr lang="en-IN" sz="2190" b="1" dirty="0">
                <a:latin typeface="Times New Roman" panose="02020603050405020304" pitchFamily="18" charset="0"/>
                <a:cs typeface="Times New Roman" panose="02020603050405020304" pitchFamily="18" charset="0"/>
              </a:rPr>
              <a:t>Algorithm statistics of XG Boost And Logistic Regression</a:t>
            </a:r>
          </a:p>
        </p:txBody>
      </p:sp>
      <p:pic>
        <p:nvPicPr>
          <p:cNvPr id="19" name="Picture 18">
            <a:extLst>
              <a:ext uri="{FF2B5EF4-FFF2-40B4-BE49-F238E27FC236}">
                <a16:creationId xmlns:a16="http://schemas.microsoft.com/office/drawing/2014/main" id="{8ED6F17D-3E07-1138-D476-43E7C15AC5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0975" y="16510764"/>
            <a:ext cx="6147904" cy="4060784"/>
          </a:xfrm>
          <a:prstGeom prst="rect">
            <a:avLst/>
          </a:prstGeom>
        </p:spPr>
      </p:pic>
      <p:sp>
        <p:nvSpPr>
          <p:cNvPr id="20" name="TextBox 19">
            <a:extLst>
              <a:ext uri="{FF2B5EF4-FFF2-40B4-BE49-F238E27FC236}">
                <a16:creationId xmlns:a16="http://schemas.microsoft.com/office/drawing/2014/main" id="{93C4B7DD-9046-1328-4C96-E2540AF4CF09}"/>
              </a:ext>
            </a:extLst>
          </p:cNvPr>
          <p:cNvSpPr txBox="1"/>
          <p:nvPr/>
        </p:nvSpPr>
        <p:spPr>
          <a:xfrm>
            <a:off x="7688966" y="20640769"/>
            <a:ext cx="4071692" cy="429348"/>
          </a:xfrm>
          <a:prstGeom prst="rect">
            <a:avLst/>
          </a:prstGeom>
          <a:noFill/>
        </p:spPr>
        <p:txBody>
          <a:bodyPr wrap="none" rtlCol="0">
            <a:spAutoFit/>
          </a:bodyPr>
          <a:lstStyle/>
          <a:p>
            <a:r>
              <a:rPr lang="en-IN" sz="2190" b="1" dirty="0">
                <a:latin typeface="Times New Roman" panose="02020603050405020304" pitchFamily="18" charset="0"/>
                <a:cs typeface="Times New Roman" panose="02020603050405020304" pitchFamily="18" charset="0"/>
              </a:rPr>
              <a:t>XG Boost vs Logistic Regression</a:t>
            </a:r>
          </a:p>
        </p:txBody>
      </p:sp>
      <p:sp>
        <p:nvSpPr>
          <p:cNvPr id="22" name="TextBox 21">
            <a:extLst>
              <a:ext uri="{FF2B5EF4-FFF2-40B4-BE49-F238E27FC236}">
                <a16:creationId xmlns:a16="http://schemas.microsoft.com/office/drawing/2014/main" id="{83E04346-EE68-AD1B-5FBF-FB14B8B8ABD1}"/>
              </a:ext>
            </a:extLst>
          </p:cNvPr>
          <p:cNvSpPr txBox="1"/>
          <p:nvPr/>
        </p:nvSpPr>
        <p:spPr>
          <a:xfrm>
            <a:off x="16041881" y="9388039"/>
            <a:ext cx="3687933" cy="429348"/>
          </a:xfrm>
          <a:prstGeom prst="rect">
            <a:avLst/>
          </a:prstGeom>
          <a:noFill/>
        </p:spPr>
        <p:txBody>
          <a:bodyPr wrap="none" rtlCol="0">
            <a:spAutoFit/>
          </a:bodyPr>
          <a:lstStyle/>
          <a:p>
            <a:r>
              <a:rPr lang="en-IN" sz="2190" b="1" dirty="0">
                <a:latin typeface="Times New Roman" panose="02020603050405020304" pitchFamily="18" charset="0"/>
                <a:cs typeface="Times New Roman" panose="02020603050405020304" pitchFamily="18" charset="0"/>
              </a:rPr>
              <a:t>Predicting Textile production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1194</TotalTime>
  <Words>799</Words>
  <Application>Microsoft Office PowerPoint</Application>
  <PresentationFormat>Custom</PresentationFormat>
  <Paragraphs>61</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MS UI Gothic</vt:lpstr>
      <vt:lpstr>Calibri</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Title---02</dc:title>
  <dc:creator>achu ashish</dc:creator>
  <cp:lastModifiedBy>achu ashish</cp:lastModifiedBy>
  <cp:revision>9</cp:revision>
  <dcterms:created xsi:type="dcterms:W3CDTF">2024-04-06T15:13:34Z</dcterms:created>
  <dcterms:modified xsi:type="dcterms:W3CDTF">2024-04-25T07:43:44Z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2024-03-22T00:00:00Z</vt:filetime>
  </property>
  <property fmtid="{D5CDD505-2E9C-101B-9397-08002B2CF9AE}" pid="3" name="Creator">
    <vt:lpwstr>Keynote</vt:lpwstr>
  </property>
  <property fmtid="{D5CDD505-2E9C-101B-9397-08002B2CF9AE}" pid="4" name="LastSaved">
    <vt:filetime>2024-04-06T00:00:00Z</vt:filetime>
  </property>
</Properties>
</file>