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599525" cy="3275965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hg2WeQvcVUIT2CwYqW9uIHCJxn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618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98700" y="685800"/>
            <a:ext cx="2260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633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8700" y="685800"/>
            <a:ext cx="2260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619966" y="5361364"/>
            <a:ext cx="18359596" cy="11405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Calibri"/>
              <a:buNone/>
              <a:defRPr sz="1074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2699941" y="17206400"/>
            <a:ext cx="16199644" cy="7909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/>
            </a:lvl1pPr>
            <a:lvl2pPr lvl="1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83"/>
            </a:lvl2pPr>
            <a:lvl3pPr lvl="2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240"/>
              <a:buNone/>
              <a:defRPr sz="3224"/>
            </a:lvl3pPr>
            <a:lvl4pPr lvl="3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4pPr>
            <a:lvl5pPr lvl="4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5pPr>
            <a:lvl6pPr lvl="5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6pPr>
            <a:lvl7pPr lvl="6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7pPr>
            <a:lvl8pPr lvl="7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8pPr>
            <a:lvl9pPr lvl="8" algn="ctr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484968" y="8720745"/>
            <a:ext cx="18629590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473718" y="8167175"/>
            <a:ext cx="18629590" cy="1362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Calibri"/>
              <a:buNone/>
              <a:defRPr sz="1074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473718" y="21923192"/>
            <a:ext cx="18629590" cy="7166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>
                <a:solidFill>
                  <a:schemeClr val="dk1"/>
                </a:solidFill>
              </a:defRPr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3600"/>
              <a:buNone/>
              <a:defRPr sz="3583">
                <a:solidFill>
                  <a:srgbClr val="888888"/>
                </a:solidFill>
              </a:defRPr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3240"/>
              <a:buNone/>
              <a:defRPr sz="3224">
                <a:solidFill>
                  <a:srgbClr val="888888"/>
                </a:solidFill>
              </a:defRPr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rgbClr val="888888"/>
              </a:buClr>
              <a:buSzPts val="2880"/>
              <a:buNone/>
              <a:defRPr sz="2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1484967" y="8720745"/>
            <a:ext cx="9179798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0934760" y="8720745"/>
            <a:ext cx="9179798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487781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487784" y="8030668"/>
            <a:ext cx="9137610" cy="393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 b="1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83" b="1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240"/>
              <a:buNone/>
              <a:defRPr sz="3224" b="1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487784" y="11966372"/>
            <a:ext cx="9137610" cy="1760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0934761" y="8030668"/>
            <a:ext cx="9182612" cy="393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4320"/>
              <a:buNone/>
              <a:defRPr sz="4299" b="1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583" b="1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240"/>
              <a:buNone/>
              <a:defRPr sz="3224" b="1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0934761" y="11966372"/>
            <a:ext cx="9182612" cy="17600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1487781" y="2183981"/>
            <a:ext cx="6966408" cy="764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Calibri"/>
              <a:buNone/>
              <a:defRPr sz="5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9182611" y="4716792"/>
            <a:ext cx="10934760" cy="23280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591493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5760"/>
              <a:buChar char="•"/>
              <a:defRPr sz="5732"/>
            </a:lvl1pPr>
            <a:lvl2pPr marL="909989" lvl="1" indent="-545994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5040"/>
              <a:buChar char="•"/>
              <a:defRPr sz="5016"/>
            </a:lvl2pPr>
            <a:lvl3pPr marL="1364984" lvl="2" indent="-500493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4320"/>
              <a:buChar char="•"/>
              <a:defRPr sz="4299"/>
            </a:lvl3pPr>
            <a:lvl4pPr marL="1819978" lvl="3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4pPr>
            <a:lvl5pPr marL="2274973" lvl="4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5pPr>
            <a:lvl6pPr marL="2729967" lvl="5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6pPr>
            <a:lvl7pPr marL="3184961" lvl="6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7pPr>
            <a:lvl8pPr marL="3639955" lvl="7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8pPr>
            <a:lvl9pPr marL="4094950" lvl="8" indent="-45499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583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1487781" y="9827892"/>
            <a:ext cx="6966408" cy="18207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08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49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487781" y="2183981"/>
            <a:ext cx="6966408" cy="764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60"/>
              <a:buFont typeface="Calibri"/>
              <a:buNone/>
              <a:defRPr sz="573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9182611" y="4716792"/>
            <a:ext cx="10934760" cy="2328058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487781" y="9827892"/>
            <a:ext cx="6966408" cy="18207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227497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67"/>
            </a:lvl1pPr>
            <a:lvl2pPr marL="909989" lvl="1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08"/>
            </a:lvl2pPr>
            <a:lvl3pPr marL="1364984" lvl="2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49"/>
            </a:lvl3pPr>
            <a:lvl4pPr marL="1819978" lvl="3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4pPr>
            <a:lvl5pPr marL="2274973" lvl="4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5pPr>
            <a:lvl6pPr marL="2729967" lvl="5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6pPr>
            <a:lvl7pPr marL="3184961" lvl="6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7pPr>
            <a:lvl8pPr marL="3639955" lvl="7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8pPr>
            <a:lvl9pPr marL="4094950" lvl="8" indent="-227497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791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06915" y="9798797"/>
            <a:ext cx="20785694" cy="1862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3904715" y="13296597"/>
            <a:ext cx="27762291" cy="4657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545076" y="8774196"/>
            <a:ext cx="27762291" cy="13702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4995" lvl="0" indent="-341245" algn="l">
              <a:lnSpc>
                <a:spcPct val="90000"/>
              </a:lnSpc>
              <a:spcBef>
                <a:spcPts val="179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09989" lvl="1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64984" lvl="2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19978" lvl="3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74973" lvl="4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29967" lvl="5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84961" lvl="6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39955" lvl="7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094950" lvl="8" indent="-341245" algn="l">
              <a:lnSpc>
                <a:spcPct val="90000"/>
              </a:lnSpc>
              <a:spcBef>
                <a:spcPts val="89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484968" y="1744156"/>
            <a:ext cx="18629590" cy="633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20"/>
              <a:buFont typeface="Calibri"/>
              <a:buNone/>
              <a:defRPr sz="791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484968" y="8720745"/>
            <a:ext cx="18629590" cy="20785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4864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040"/>
              <a:buFont typeface="Arial"/>
              <a:buChar char="•"/>
              <a:defRPr sz="50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0291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4320"/>
              <a:buFont typeface="Arial"/>
              <a:buChar char="•"/>
              <a:defRPr sz="43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57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4339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434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240"/>
              <a:buFont typeface="Arial"/>
              <a:buChar char="•"/>
              <a:defRPr sz="32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484968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7154843" y="30363355"/>
            <a:ext cx="7289840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9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5254666" y="30363355"/>
            <a:ext cx="4859893" cy="1744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Arial"/>
              <a:buNone/>
              <a:defRPr sz="214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" y="3496277"/>
            <a:ext cx="21599525" cy="6433995"/>
          </a:xfrm>
          <a:prstGeom prst="rect">
            <a:avLst/>
          </a:prstGeom>
          <a:solidFill>
            <a:srgbClr val="FED67F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9930272"/>
            <a:ext cx="21599524" cy="5936074"/>
          </a:xfrm>
          <a:prstGeom prst="rect">
            <a:avLst/>
          </a:prstGeom>
          <a:solidFill>
            <a:srgbClr val="BFE7FF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endParaRPr lang="en-IN"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SzPts val="1800"/>
            </a:pPr>
            <a:r>
              <a:rPr lang="en-IN" sz="2179" b="1" dirty="0">
                <a:solidFill>
                  <a:schemeClr val="tx2">
                    <a:lumMod val="1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Re-iterate till satisfactory model performance</a:t>
            </a:r>
            <a:endParaRPr sz="2179" b="1" dirty="0">
              <a:solidFill>
                <a:schemeClr val="tx2">
                  <a:lumMod val="1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15865595"/>
            <a:ext cx="21599524" cy="6248912"/>
          </a:xfrm>
          <a:prstGeom prst="rect">
            <a:avLst/>
          </a:prstGeom>
          <a:solidFill>
            <a:srgbClr val="FFCFE7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just">
              <a:buSzPts val="1800"/>
            </a:pPr>
            <a:endParaRPr sz="179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buSzPts val="1800"/>
            </a:pPr>
            <a:endParaRPr sz="179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4371" indent="-170623" algn="just">
              <a:buClr>
                <a:schemeClr val="dk1"/>
              </a:buClr>
              <a:buSzPts val="1800"/>
            </a:pPr>
            <a:endParaRPr sz="179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4371" indent="-170623" algn="just">
              <a:buClr>
                <a:schemeClr val="dk1"/>
              </a:buClr>
              <a:buSzPts val="1800"/>
            </a:pPr>
            <a:endParaRPr sz="179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4371" indent="-170623" algn="just">
              <a:buClr>
                <a:schemeClr val="dk1"/>
              </a:buClr>
              <a:buSzPts val="1800"/>
            </a:pPr>
            <a:endParaRPr sz="179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22114508"/>
            <a:ext cx="21599525" cy="5170862"/>
          </a:xfrm>
          <a:prstGeom prst="rect">
            <a:avLst/>
          </a:prstGeom>
          <a:solidFill>
            <a:srgbClr val="FCDCBF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0" y="27285370"/>
            <a:ext cx="21599525" cy="5474280"/>
          </a:xfrm>
          <a:prstGeom prst="rect">
            <a:avLst/>
          </a:prstGeom>
          <a:solidFill>
            <a:srgbClr val="D7F5CD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43947" y="3786420"/>
            <a:ext cx="3245274" cy="551428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-2" y="1932144"/>
            <a:ext cx="21599526" cy="1565043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 algn="ctr">
              <a:buSzPts val="1800"/>
            </a:pPr>
            <a:endParaRPr sz="179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343947" y="16133697"/>
            <a:ext cx="1870824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343946" y="22242700"/>
            <a:ext cx="5880467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AND CONCLUSION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343946" y="27491208"/>
            <a:ext cx="3008311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BIBLIOGRAPHY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66533" y="2085384"/>
            <a:ext cx="21599526" cy="1196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algn="ctr">
              <a:buSzPts val="3600"/>
            </a:pPr>
            <a:r>
              <a:rPr lang="en-US" sz="35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Accuracy in Textile Production Forecasting : A Comparative Analysis of XG Boost And Decision Tree</a:t>
            </a:r>
          </a:p>
        </p:txBody>
      </p:sp>
      <p:sp>
        <p:nvSpPr>
          <p:cNvPr id="95" name="Google Shape;95;p1"/>
          <p:cNvSpPr/>
          <p:nvPr/>
        </p:nvSpPr>
        <p:spPr>
          <a:xfrm>
            <a:off x="343947" y="10167430"/>
            <a:ext cx="5160059" cy="551326"/>
          </a:xfrm>
          <a:prstGeom prst="rect">
            <a:avLst/>
          </a:prstGeom>
          <a:solidFill>
            <a:srgbClr val="FFFF00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984" tIns="45480" rIns="90984" bIns="45480" anchor="ctr" anchorCtr="0">
            <a:noAutofit/>
          </a:bodyPr>
          <a:lstStyle/>
          <a:p>
            <a:pPr>
              <a:buSzPts val="2800"/>
            </a:pPr>
            <a:r>
              <a:rPr lang="en-IN" sz="2786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</a:t>
            </a:r>
            <a:endParaRPr sz="2786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343947" y="4436256"/>
            <a:ext cx="14257671" cy="5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offers a experienced and refined approach to textile production forecasting, leveraging algorithms to learn from vast datasets and identify hidden patterns.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is renowned for its gradient boosting framework, while Decision Tree offers a well-established and interpretable approach to classification and regression tasks.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transformative potential of machine learning to revolutionize textile production forecasting.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groups were analyzed in this research. </a:t>
            </a:r>
          </a:p>
          <a:p>
            <a:pPr marL="25277" algn="just">
              <a:buClr>
                <a:schemeClr val="dk1"/>
              </a:buClr>
              <a:buSzPts val="2400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Group 1: XGBoost Algorithm, </a:t>
            </a:r>
          </a:p>
          <a:p>
            <a:pPr marL="25277" algn="just">
              <a:buClr>
                <a:schemeClr val="dk1"/>
              </a:buClr>
              <a:buSzPts val="2400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Group 2: Decision Tree Algorithm. 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ability to predict production outcomes with pinpoint accuracy empowers manufacturers on multiple fronts.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statistical methods often struggle to capture intricate relationships within the complex system of textile production.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Textile production forecasting plays a pivotal role in optimizing resource allocation, inventory management, and overall operational efficiency.</a:t>
            </a:r>
          </a:p>
          <a:p>
            <a:pPr marL="341245" indent="-315968" algn="just"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exploration of these algorithms aims to provide industry professionals and researchers with a nuanced understanding of their respective strengths and weaknesses, ultimately guiding the selection of the most suitable model for this specific application.</a:t>
            </a:r>
          </a:p>
        </p:txBody>
      </p:sp>
      <p:sp>
        <p:nvSpPr>
          <p:cNvPr id="100" name="Google Shape;100;p1"/>
          <p:cNvSpPr txBox="1"/>
          <p:nvPr/>
        </p:nvSpPr>
        <p:spPr>
          <a:xfrm>
            <a:off x="343946" y="22947772"/>
            <a:ext cx="20781583" cy="413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XGBoost algorithm achieved a significantly higher accuracy score of 68.38% compared to the Decision Tree algorithm's 57.94% in the context of textile production forecasting.</a:t>
            </a: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XGBoost's</a:t>
            </a: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advanced regularization techniques, prevention of overfitting, and utilization of multiple CPU cores contribute to enhanced performance and speed, crucial for real-world textile production forecasting scenarios.</a:t>
            </a: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comparative analysis between XGBoost and Decision Tree algorithms in textile production forecasting clearly demonstrates the superior performance of XGBoost in terms of accuracy and predictive capabilities</a:t>
            </a: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latin typeface="Times New Roman" panose="02020603050405020304" pitchFamily="18" charset="0"/>
              </a:rPr>
              <a:t>T-test Statistical analysis reveals a significance value of p=0.001 (independent sample T-test p&lt;0.05), signifying a statistically significant difference between the two groups.</a:t>
            </a:r>
            <a:endParaRPr lang="en-US" sz="219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enhanced performance, speed, and accuracy of XGBoost make it a valuable tool for optimizing resource allocation, improving inventory management, and enhancing operational efficiency in textile production forecasting scenarios.</a:t>
            </a:r>
          </a:p>
          <a:p>
            <a:pPr marL="454995" indent="-365827" algn="just">
              <a:buClr>
                <a:schemeClr val="dk1"/>
              </a:buClr>
              <a:buSzPts val="2189"/>
              <a:buFont typeface="Noto Sans Symbols"/>
              <a:buChar char="⮚"/>
            </a:pPr>
            <a:r>
              <a:rPr lang="en-US" sz="219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lower accuracy of Decision Tree suggests that, in certain scenarios, more advanced algorithms like XGBoost may offer better predictive performance, underscoring the importance of algorithm selection.</a:t>
            </a:r>
          </a:p>
        </p:txBody>
      </p:sp>
      <p:sp>
        <p:nvSpPr>
          <p:cNvPr id="101" name="Google Shape;101;p1"/>
          <p:cNvSpPr txBox="1"/>
          <p:nvPr/>
        </p:nvSpPr>
        <p:spPr>
          <a:xfrm>
            <a:off x="343946" y="28143360"/>
            <a:ext cx="20781583" cy="447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45480" rIns="90984" bIns="45480" anchor="t" anchorCtr="0">
            <a:spAutoFit/>
          </a:bodyPr>
          <a:lstStyle/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Horowitz, A. Simplifications for single-route transit-ridership forecasting models. Transportation 1984, 12, 261–275.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Taylor, B.; Miller, D.; Iseki, H.; Fink, C. Nature and/or nurture? </a:t>
            </a:r>
            <a:r>
              <a:rPr lang="en-IN" sz="219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determinants of transit ridership across US urbanized areas. Transp. Res. Part A Policy </a:t>
            </a:r>
            <a:r>
              <a:rPr lang="en-IN" sz="219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</a:t>
            </a: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2009, 43, 60–77. 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Chan, S.; Miranda-Moreno, L. A station-level ridership model for the metro network in Montreal, Quebec. Can. J. Civ. Eng. 2013, 40, 254–262. 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Idris, A.; Habib, K.; </a:t>
            </a:r>
            <a:r>
              <a:rPr lang="en-IN" sz="219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Shalaby</a:t>
            </a: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An investigation on the performances of mode shift models in transit ridership forecasting. Transp. Res. Part A Policy </a:t>
            </a:r>
            <a:r>
              <a:rPr lang="en-IN" sz="219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</a:t>
            </a: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2015, 78, 551–565.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Zhao, J.; Deng, W.; Song, Y.; Zhu, Y. Analysis of Metro ridership at station level and station-to-station level in Nanjing: An approach based on direct demand models. Transportation 2014, 41, 133–155.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Sillanpää V, Liesiö J (2018) Forecasting replenishment orders in retail: value of modelling low and intermittent consumer demand with distributions. Int J Prod Res 56(12):4168–4185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A (2020) Towards ‘gresilient’ supply chain management: a quantitative study. Resour Conserv Recycl 155:104641</a:t>
            </a:r>
          </a:p>
          <a:p>
            <a:pPr marL="341245" indent="-341245"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Oliva R, Watson N (2009) Managing functional biases in organizational forecasts: a case study of consensus forecasting in supply chain planning. Prod Oper Manag 18(2):138–151</a:t>
            </a:r>
          </a:p>
        </p:txBody>
      </p:sp>
      <p:sp>
        <p:nvSpPr>
          <p:cNvPr id="104" name="Google Shape;104;p1"/>
          <p:cNvSpPr txBox="1"/>
          <p:nvPr/>
        </p:nvSpPr>
        <p:spPr>
          <a:xfrm>
            <a:off x="11341149" y="19245016"/>
            <a:ext cx="3410041" cy="64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84" tIns="90984" rIns="90984" bIns="90984" anchor="t" anchorCtr="0">
            <a:noAutofit/>
          </a:bodyPr>
          <a:lstStyle/>
          <a:p>
            <a:pPr>
              <a:buSzPts val="2200"/>
            </a:pPr>
            <a:endParaRPr sz="2189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B217F92-0920-F2ED-6E77-F40B0976D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14298"/>
              </p:ext>
            </p:extLst>
          </p:nvPr>
        </p:nvGraphicFramePr>
        <p:xfrm>
          <a:off x="13305405" y="17144295"/>
          <a:ext cx="7820126" cy="404759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21724">
                  <a:extLst>
                    <a:ext uri="{9D8B030D-6E8A-4147-A177-3AD203B41FA5}">
                      <a16:colId xmlns:a16="http://schemas.microsoft.com/office/drawing/2014/main" val="1383576901"/>
                    </a:ext>
                  </a:extLst>
                </a:gridCol>
                <a:gridCol w="1142414">
                  <a:extLst>
                    <a:ext uri="{9D8B030D-6E8A-4147-A177-3AD203B41FA5}">
                      <a16:colId xmlns:a16="http://schemas.microsoft.com/office/drawing/2014/main" val="405161997"/>
                    </a:ext>
                  </a:extLst>
                </a:gridCol>
                <a:gridCol w="1338997">
                  <a:extLst>
                    <a:ext uri="{9D8B030D-6E8A-4147-A177-3AD203B41FA5}">
                      <a16:colId xmlns:a16="http://schemas.microsoft.com/office/drawing/2014/main" val="2446666126"/>
                    </a:ext>
                  </a:extLst>
                </a:gridCol>
                <a:gridCol w="1338997">
                  <a:extLst>
                    <a:ext uri="{9D8B030D-6E8A-4147-A177-3AD203B41FA5}">
                      <a16:colId xmlns:a16="http://schemas.microsoft.com/office/drawing/2014/main" val="3709785453"/>
                    </a:ext>
                  </a:extLst>
                </a:gridCol>
                <a:gridCol w="1338997">
                  <a:extLst>
                    <a:ext uri="{9D8B030D-6E8A-4147-A177-3AD203B41FA5}">
                      <a16:colId xmlns:a16="http://schemas.microsoft.com/office/drawing/2014/main" val="1345821881"/>
                    </a:ext>
                  </a:extLst>
                </a:gridCol>
                <a:gridCol w="1338997">
                  <a:extLst>
                    <a:ext uri="{9D8B030D-6E8A-4147-A177-3AD203B41FA5}">
                      <a16:colId xmlns:a16="http://schemas.microsoft.com/office/drawing/2014/main" val="2752655164"/>
                    </a:ext>
                  </a:extLst>
                </a:gridCol>
              </a:tblGrid>
              <a:tr h="134919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Deviation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Std. Error Mean</a:t>
                      </a:r>
                    </a:p>
                  </a:txBody>
                  <a:tcPr marL="63194" marR="63194" marT="63194" marB="63194"/>
                </a:tc>
                <a:extLst>
                  <a:ext uri="{0D108BD9-81ED-4DB2-BD59-A6C34878D82A}">
                    <a16:rowId xmlns:a16="http://schemas.microsoft.com/office/drawing/2014/main" val="1221169630"/>
                  </a:ext>
                </a:extLst>
              </a:tr>
              <a:tr h="1349197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0" marR="0" algn="just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 Boost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294640" marR="0" indent="0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10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228600" marR="222250" indent="0" algn="ctr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68.3860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4140" marR="100965" indent="0" algn="ctr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36.04512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9220" marR="99695" indent="0" algn="ctr">
                        <a:lnSpc>
                          <a:spcPct val="114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11.39847</a:t>
                      </a:r>
                    </a:p>
                  </a:txBody>
                  <a:tcPr marL="63194" marR="63194" marT="63194" marB="63194"/>
                </a:tc>
                <a:extLst>
                  <a:ext uri="{0D108BD9-81ED-4DB2-BD59-A6C34878D82A}">
                    <a16:rowId xmlns:a16="http://schemas.microsoft.com/office/drawing/2014/main" val="2080949430"/>
                  </a:ext>
                </a:extLst>
              </a:tr>
              <a:tr h="134919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10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228600" marR="222250" indent="0" algn="ctr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57.9470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4140" marR="100965" indent="0" algn="ctr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13.10035</a:t>
                      </a:r>
                    </a:p>
                  </a:txBody>
                  <a:tcPr marL="63194" marR="63194" marT="63194" marB="63194"/>
                </a:tc>
                <a:tc>
                  <a:txBody>
                    <a:bodyPr/>
                    <a:lstStyle/>
                    <a:p>
                      <a:pPr marL="109220" marR="99695" indent="0" algn="ctr">
                        <a:lnSpc>
                          <a:spcPct val="114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IN" sz="2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4.14269</a:t>
                      </a:r>
                    </a:p>
                  </a:txBody>
                  <a:tcPr marL="63194" marR="63194" marT="63194" marB="63194"/>
                </a:tc>
                <a:extLst>
                  <a:ext uri="{0D108BD9-81ED-4DB2-BD59-A6C34878D82A}">
                    <a16:rowId xmlns:a16="http://schemas.microsoft.com/office/drawing/2014/main" val="139937454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DAEC765-8F8B-2BD7-9DE3-6A3E412C769F}"/>
              </a:ext>
            </a:extLst>
          </p:cNvPr>
          <p:cNvSpPr txBox="1"/>
          <p:nvPr/>
        </p:nvSpPr>
        <p:spPr>
          <a:xfrm>
            <a:off x="343946" y="21338457"/>
            <a:ext cx="20781583" cy="763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2039" indent="-312039">
              <a:buFont typeface="Wingdings" panose="05000000000000000000" pitchFamily="2" charset="2"/>
              <a:buChar char="Ø"/>
            </a:pPr>
            <a:r>
              <a:rPr lang="en-US" sz="2190" dirty="0">
                <a:latin typeface="Times New Roman" panose="02020603050405020304" pitchFamily="18" charset="0"/>
              </a:rPr>
              <a:t> </a:t>
            </a:r>
            <a:r>
              <a:rPr lang="en-US" sz="2190" b="1" dirty="0">
                <a:latin typeface="Times New Roman" panose="02020603050405020304" pitchFamily="18" charset="0"/>
              </a:rPr>
              <a:t>It shows the accuracy of XG Boost is 68.3860 and accuracy of Decision Tree is 57.9470. X- axis denotes XG Boost Vs Decision Tree Y-axis denotes mean accuracy, with error bars indicating ±2 SD.</a:t>
            </a:r>
            <a:endParaRPr lang="en-US" sz="2190" b="1" dirty="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FFC9EB-368F-F48E-22B5-49E0C427F10E}"/>
              </a:ext>
            </a:extLst>
          </p:cNvPr>
          <p:cNvSpPr txBox="1"/>
          <p:nvPr/>
        </p:nvSpPr>
        <p:spPr>
          <a:xfrm>
            <a:off x="-1" y="-9939"/>
            <a:ext cx="21599525" cy="194053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endParaRPr lang="en-IN" sz="1625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DE2AD7-485B-214B-96EC-5D7A295DA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6036"/>
            <a:ext cx="21599523" cy="18925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CF39FC9-48DD-6CB1-92AD-F04E9DFB877B}"/>
              </a:ext>
            </a:extLst>
          </p:cNvPr>
          <p:cNvSpPr txBox="1"/>
          <p:nvPr/>
        </p:nvSpPr>
        <p:spPr>
          <a:xfrm>
            <a:off x="16222999" y="898071"/>
            <a:ext cx="5376526" cy="1098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SzPts val="2500"/>
            </a:pPr>
            <a:r>
              <a:rPr lang="en-IN" sz="219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Name : S .Ashish Kumar</a:t>
            </a:r>
          </a:p>
          <a:p>
            <a:pPr algn="r">
              <a:buSzPts val="2500"/>
            </a:pPr>
            <a:r>
              <a:rPr lang="en-IN" sz="219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Register number:192124142</a:t>
            </a:r>
          </a:p>
          <a:p>
            <a:pPr algn="r">
              <a:buSzPts val="2500"/>
            </a:pPr>
            <a:r>
              <a:rPr lang="en-IN" sz="2190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Guided by : Dr . A .</a:t>
            </a:r>
            <a:r>
              <a:rPr lang="en-IN" sz="2190" dirty="0" err="1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Muniyappan</a:t>
            </a:r>
            <a:endParaRPr lang="en-IN" sz="2190" dirty="0">
              <a:solidFill>
                <a:schemeClr val="lt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60027411-FF1E-6722-61B5-F63A5F9347D6}"/>
              </a:ext>
            </a:extLst>
          </p:cNvPr>
          <p:cNvSpPr/>
          <p:nvPr/>
        </p:nvSpPr>
        <p:spPr>
          <a:xfrm>
            <a:off x="2470334" y="10852431"/>
            <a:ext cx="1600843" cy="151940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Data assets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CB55F9-C36D-3316-986B-33DDCBDC4438}"/>
              </a:ext>
            </a:extLst>
          </p:cNvPr>
          <p:cNvSpPr/>
          <p:nvPr/>
        </p:nvSpPr>
        <p:spPr>
          <a:xfrm>
            <a:off x="2508801" y="12689041"/>
            <a:ext cx="7607043" cy="2505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5" dirty="0"/>
          </a:p>
          <a:p>
            <a:pPr algn="ctr"/>
            <a:endParaRPr lang="en-IN" sz="1625" dirty="0"/>
          </a:p>
          <a:p>
            <a:pPr algn="ctr"/>
            <a:endParaRPr lang="en-IN" sz="1625" dirty="0"/>
          </a:p>
          <a:p>
            <a:pPr algn="ctr"/>
            <a:endParaRPr lang="en-IN" sz="1625" dirty="0"/>
          </a:p>
          <a:p>
            <a:pPr algn="ctr"/>
            <a:endParaRPr lang="en-IN" sz="1625" dirty="0"/>
          </a:p>
          <a:p>
            <a:pPr algn="ctr"/>
            <a:endParaRPr lang="en-IN" sz="1625" dirty="0"/>
          </a:p>
          <a:p>
            <a:pPr algn="ctr"/>
            <a:endParaRPr lang="en-IN" sz="1625" dirty="0"/>
          </a:p>
          <a:p>
            <a:pPr algn="ctr"/>
            <a:endParaRPr lang="en-IN" sz="1625" dirty="0"/>
          </a:p>
          <a:p>
            <a:pPr algn="ctr"/>
            <a:endParaRPr lang="en-IN" sz="1625" dirty="0"/>
          </a:p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Data preparation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64C151F4-3CCD-0EF2-3C98-6526255CF4A8}"/>
              </a:ext>
            </a:extLst>
          </p:cNvPr>
          <p:cNvSpPr/>
          <p:nvPr/>
        </p:nvSpPr>
        <p:spPr>
          <a:xfrm>
            <a:off x="13817497" y="13238322"/>
            <a:ext cx="3199996" cy="1982865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Model</a:t>
            </a:r>
          </a:p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Evaluation&amp;</a:t>
            </a:r>
          </a:p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Tuning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AF2D1C-F8B9-7B22-1D00-49F2C78EE37F}"/>
              </a:ext>
            </a:extLst>
          </p:cNvPr>
          <p:cNvSpPr/>
          <p:nvPr/>
        </p:nvSpPr>
        <p:spPr>
          <a:xfrm>
            <a:off x="11117747" y="13575892"/>
            <a:ext cx="2178115" cy="14490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Modelling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015F6C-FEF0-34DF-3B14-14D22A3D3609}"/>
              </a:ext>
            </a:extLst>
          </p:cNvPr>
          <p:cNvSpPr/>
          <p:nvPr/>
        </p:nvSpPr>
        <p:spPr>
          <a:xfrm>
            <a:off x="10956059" y="10912209"/>
            <a:ext cx="2178115" cy="1327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Machine</a:t>
            </a:r>
          </a:p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Learning</a:t>
            </a:r>
          </a:p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Algorithm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9FB7A0-5E0B-E4EB-C4FA-334A9261BA86}"/>
              </a:ext>
            </a:extLst>
          </p:cNvPr>
          <p:cNvSpPr/>
          <p:nvPr/>
        </p:nvSpPr>
        <p:spPr>
          <a:xfrm>
            <a:off x="17391463" y="13566070"/>
            <a:ext cx="2178115" cy="1327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Deployment &amp;</a:t>
            </a:r>
          </a:p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CFD8C7-74E5-BA31-33A8-AADF5C24C9D6}"/>
              </a:ext>
            </a:extLst>
          </p:cNvPr>
          <p:cNvSpPr/>
          <p:nvPr/>
        </p:nvSpPr>
        <p:spPr>
          <a:xfrm>
            <a:off x="7814316" y="13186264"/>
            <a:ext cx="2178115" cy="1327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Feature</a:t>
            </a:r>
          </a:p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Scaling &amp;</a:t>
            </a:r>
          </a:p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Selection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ED62E22-84BD-AC75-221D-BE0C1760F339}"/>
              </a:ext>
            </a:extLst>
          </p:cNvPr>
          <p:cNvSpPr/>
          <p:nvPr/>
        </p:nvSpPr>
        <p:spPr>
          <a:xfrm>
            <a:off x="5310446" y="13167701"/>
            <a:ext cx="2178115" cy="1327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Feature</a:t>
            </a:r>
          </a:p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Extraction &amp;</a:t>
            </a:r>
          </a:p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Engineering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EE06AA-BA31-3329-1D37-433ABF558F8B}"/>
              </a:ext>
            </a:extLst>
          </p:cNvPr>
          <p:cNvSpPr/>
          <p:nvPr/>
        </p:nvSpPr>
        <p:spPr>
          <a:xfrm>
            <a:off x="2795984" y="13186264"/>
            <a:ext cx="2178115" cy="1327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Data processing &amp;</a:t>
            </a:r>
          </a:p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Wrangling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091BCE3-2265-4AA5-BE4B-37571F9EB200}"/>
              </a:ext>
            </a:extLst>
          </p:cNvPr>
          <p:cNvSpPr/>
          <p:nvPr/>
        </p:nvSpPr>
        <p:spPr>
          <a:xfrm>
            <a:off x="4327382" y="11338683"/>
            <a:ext cx="1798919" cy="375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5" dirty="0"/>
          </a:p>
        </p:txBody>
      </p:sp>
      <p:sp>
        <p:nvSpPr>
          <p:cNvPr id="34" name="Callout: Down Arrow 33">
            <a:extLst>
              <a:ext uri="{FF2B5EF4-FFF2-40B4-BE49-F238E27FC236}">
                <a16:creationId xmlns:a16="http://schemas.microsoft.com/office/drawing/2014/main" id="{5F589387-EF6D-BE05-A082-4FE8BA7AA5B0}"/>
              </a:ext>
            </a:extLst>
          </p:cNvPr>
          <p:cNvSpPr/>
          <p:nvPr/>
        </p:nvSpPr>
        <p:spPr>
          <a:xfrm>
            <a:off x="6462272" y="10938812"/>
            <a:ext cx="2672472" cy="1608010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79" b="1" dirty="0">
                <a:solidFill>
                  <a:schemeClr val="tx2">
                    <a:lumMod val="10000"/>
                  </a:schemeClr>
                </a:solidFill>
              </a:rPr>
              <a:t>Data Retrieval</a:t>
            </a: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48120917-1B33-101E-5370-F66A342E4275}"/>
              </a:ext>
            </a:extLst>
          </p:cNvPr>
          <p:cNvSpPr/>
          <p:nvPr/>
        </p:nvSpPr>
        <p:spPr>
          <a:xfrm>
            <a:off x="11835539" y="12466838"/>
            <a:ext cx="482295" cy="9736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5"/>
          </a:p>
        </p:txBody>
      </p:sp>
      <p:sp>
        <p:nvSpPr>
          <p:cNvPr id="39" name="Arrow: Left-Up 38">
            <a:extLst>
              <a:ext uri="{FF2B5EF4-FFF2-40B4-BE49-F238E27FC236}">
                <a16:creationId xmlns:a16="http://schemas.microsoft.com/office/drawing/2014/main" id="{5CDF7796-3AF9-05C8-70B1-5D78ABFF178B}"/>
              </a:ext>
            </a:extLst>
          </p:cNvPr>
          <p:cNvSpPr/>
          <p:nvPr/>
        </p:nvSpPr>
        <p:spPr>
          <a:xfrm>
            <a:off x="13575233" y="15279382"/>
            <a:ext cx="1547194" cy="536617"/>
          </a:xfrm>
          <a:prstGeom prst="lef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5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A783E17B-15DA-9231-A4F4-27BF33280B91}"/>
              </a:ext>
            </a:extLst>
          </p:cNvPr>
          <p:cNvSpPr/>
          <p:nvPr/>
        </p:nvSpPr>
        <p:spPr>
          <a:xfrm>
            <a:off x="5538725" y="15323779"/>
            <a:ext cx="2413330" cy="3846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5"/>
          </a:p>
        </p:txBody>
      </p:sp>
      <p:sp>
        <p:nvSpPr>
          <p:cNvPr id="43" name="L-Shape 42">
            <a:extLst>
              <a:ext uri="{FF2B5EF4-FFF2-40B4-BE49-F238E27FC236}">
                <a16:creationId xmlns:a16="http://schemas.microsoft.com/office/drawing/2014/main" id="{7F52DFB6-3062-D874-6E38-6612F4C90B7F}"/>
              </a:ext>
            </a:extLst>
          </p:cNvPr>
          <p:cNvSpPr/>
          <p:nvPr/>
        </p:nvSpPr>
        <p:spPr>
          <a:xfrm>
            <a:off x="5430405" y="15204165"/>
            <a:ext cx="723561" cy="394079"/>
          </a:xfrm>
          <a:prstGeom prst="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25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B0BEBF6-A5FA-FD06-FC83-B430B0BED8ED}"/>
              </a:ext>
            </a:extLst>
          </p:cNvPr>
          <p:cNvCxnSpPr>
            <a:cxnSpLocks/>
          </p:cNvCxnSpPr>
          <p:nvPr/>
        </p:nvCxnSpPr>
        <p:spPr>
          <a:xfrm>
            <a:off x="13305405" y="14762422"/>
            <a:ext cx="1296214" cy="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461A2F9-A106-F89B-F64A-912C9E432CF2}"/>
              </a:ext>
            </a:extLst>
          </p:cNvPr>
          <p:cNvCxnSpPr>
            <a:cxnSpLocks/>
          </p:cNvCxnSpPr>
          <p:nvPr/>
        </p:nvCxnSpPr>
        <p:spPr>
          <a:xfrm flipV="1">
            <a:off x="16329418" y="14747518"/>
            <a:ext cx="1110034" cy="9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CE6EE8B-9FF3-5390-B8C6-27E155EA27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102" t="54293" r="8351" b="9177"/>
          <a:stretch/>
        </p:blipFill>
        <p:spPr>
          <a:xfrm>
            <a:off x="7336402" y="16816291"/>
            <a:ext cx="5648078" cy="40475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9B08F6-B0E4-27D5-373C-3305CDA76E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5680" y="3900879"/>
            <a:ext cx="6159850" cy="53993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7CE80C-FAB2-6105-9EAE-05259855FC57}"/>
              </a:ext>
            </a:extLst>
          </p:cNvPr>
          <p:cNvSpPr txBox="1"/>
          <p:nvPr/>
        </p:nvSpPr>
        <p:spPr>
          <a:xfrm>
            <a:off x="8386935" y="20885596"/>
            <a:ext cx="3389069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 Boost vs Decision Tree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0C31BE-2186-87AC-F526-67D78318CDE7}"/>
              </a:ext>
            </a:extLst>
          </p:cNvPr>
          <p:cNvSpPr txBox="1"/>
          <p:nvPr/>
        </p:nvSpPr>
        <p:spPr>
          <a:xfrm>
            <a:off x="14026133" y="16548513"/>
            <a:ext cx="6378669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statistics of XG Boost And Decision Tree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0F94A00-5C07-D06D-A13C-8E3F3A7BD3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946" y="16828762"/>
            <a:ext cx="6648510" cy="404759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5450DC3-0684-442C-6097-4988068F1361}"/>
              </a:ext>
            </a:extLst>
          </p:cNvPr>
          <p:cNvSpPr txBox="1"/>
          <p:nvPr/>
        </p:nvSpPr>
        <p:spPr>
          <a:xfrm>
            <a:off x="16041881" y="9388039"/>
            <a:ext cx="3687933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Textile production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ACB741-2BD7-6ACF-7BEB-84F5F3045C90}"/>
              </a:ext>
            </a:extLst>
          </p:cNvPr>
          <p:cNvSpPr txBox="1"/>
          <p:nvPr/>
        </p:nvSpPr>
        <p:spPr>
          <a:xfrm>
            <a:off x="2256340" y="20921580"/>
            <a:ext cx="2823722" cy="4293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1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Accuracy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2423</TotalTime>
  <Words>788</Words>
  <Application>Microsoft Office PowerPoint</Application>
  <PresentationFormat>Custom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Noto Sans Symbols</vt:lpstr>
      <vt:lpstr>Times New Roman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Moorthy</dc:creator>
  <cp:lastModifiedBy>achu ashish</cp:lastModifiedBy>
  <cp:revision>15</cp:revision>
  <dcterms:created xsi:type="dcterms:W3CDTF">2023-04-19T08:35:46Z</dcterms:created>
  <dcterms:modified xsi:type="dcterms:W3CDTF">2024-04-25T07:43:42Z</dcterms:modified>
</cp:coreProperties>
</file>