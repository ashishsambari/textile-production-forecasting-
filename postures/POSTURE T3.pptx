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1599525" cy="3275965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" roundtripDataSignature="AMtx7miRSu/hw+7p1JsJjTIZu22SNsiq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5039" autoAdjust="0"/>
  </p:normalViewPr>
  <p:slideViewPr>
    <p:cSldViewPr snapToGrid="0">
      <p:cViewPr>
        <p:scale>
          <a:sx n="50" d="100"/>
          <a:sy n="50" d="100"/>
        </p:scale>
        <p:origin x="58" y="-6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customschemas.google.com/relationships/presentationmetadata" Target="metadata"/><Relationship Id="rId10" Type="http://schemas.openxmlformats.org/officeDocument/2006/relationships/tableStyles" Target="tableStyles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98700" y="685800"/>
            <a:ext cx="2260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8700" y="685800"/>
            <a:ext cx="2260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1619966" y="5361364"/>
            <a:ext cx="18359596" cy="11405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Calibri"/>
              <a:buNone/>
              <a:defRPr sz="1074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2699941" y="17206400"/>
            <a:ext cx="16199644" cy="7909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791"/>
              </a:spcBef>
              <a:spcAft>
                <a:spcPts val="0"/>
              </a:spcAft>
              <a:buClr>
                <a:schemeClr val="dk1"/>
              </a:buClr>
              <a:buSzPts val="4320"/>
              <a:buNone/>
              <a:defRPr sz="4299"/>
            </a:lvl1pPr>
            <a:lvl2pPr lvl="1" algn="ctr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83"/>
            </a:lvl2pPr>
            <a:lvl3pPr lvl="2" algn="ctr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3240"/>
              <a:buNone/>
              <a:defRPr sz="3224"/>
            </a:lvl3pPr>
            <a:lvl4pPr lvl="3" algn="ctr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/>
            </a:lvl4pPr>
            <a:lvl5pPr lvl="4" algn="ctr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/>
            </a:lvl5pPr>
            <a:lvl6pPr lvl="5" algn="ctr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/>
            </a:lvl6pPr>
            <a:lvl7pPr lvl="6" algn="ctr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/>
            </a:lvl7pPr>
            <a:lvl8pPr lvl="7" algn="ctr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/>
            </a:lvl8pPr>
            <a:lvl9pPr lvl="8" algn="ctr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14849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7154843" y="30363355"/>
            <a:ext cx="7289840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15254666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1484968" y="1744156"/>
            <a:ext cx="18629590" cy="6332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484968" y="8720745"/>
            <a:ext cx="18629590" cy="2078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4995" lvl="0" indent="-341245" algn="l">
              <a:lnSpc>
                <a:spcPct val="90000"/>
              </a:lnSpc>
              <a:spcBef>
                <a:spcPts val="17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09989" lvl="1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64984" lvl="2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19978" lvl="3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74973" lvl="4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29967" lvl="5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84961" lvl="6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39955" lvl="7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094950" lvl="8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14849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7154843" y="30363355"/>
            <a:ext cx="7289840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5254666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1473718" y="8167175"/>
            <a:ext cx="18629590" cy="13627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Calibri"/>
              <a:buNone/>
              <a:defRPr sz="1074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1473718" y="21923192"/>
            <a:ext cx="18629590" cy="7166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4995" lvl="0" indent="-227497" algn="l">
              <a:lnSpc>
                <a:spcPct val="90000"/>
              </a:lnSpc>
              <a:spcBef>
                <a:spcPts val="1791"/>
              </a:spcBef>
              <a:spcAft>
                <a:spcPts val="0"/>
              </a:spcAft>
              <a:buClr>
                <a:schemeClr val="dk1"/>
              </a:buClr>
              <a:buSzPts val="4320"/>
              <a:buNone/>
              <a:defRPr sz="4299">
                <a:solidFill>
                  <a:schemeClr val="dk1"/>
                </a:solidFill>
              </a:defRPr>
            </a:lvl1pPr>
            <a:lvl2pPr marL="909989" lvl="1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 sz="3583">
                <a:solidFill>
                  <a:srgbClr val="888888"/>
                </a:solidFill>
              </a:defRPr>
            </a:lvl2pPr>
            <a:lvl3pPr marL="1364984" lvl="2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rgbClr val="888888"/>
              </a:buClr>
              <a:buSzPts val="3240"/>
              <a:buNone/>
              <a:defRPr sz="3224">
                <a:solidFill>
                  <a:srgbClr val="888888"/>
                </a:solidFill>
              </a:defRPr>
            </a:lvl3pPr>
            <a:lvl4pPr marL="1819978" lvl="3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rgbClr val="888888"/>
              </a:buClr>
              <a:buSzPts val="2880"/>
              <a:buNone/>
              <a:defRPr sz="2867">
                <a:solidFill>
                  <a:srgbClr val="888888"/>
                </a:solidFill>
              </a:defRPr>
            </a:lvl4pPr>
            <a:lvl5pPr marL="2274973" lvl="4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rgbClr val="888888"/>
              </a:buClr>
              <a:buSzPts val="2880"/>
              <a:buNone/>
              <a:defRPr sz="2867">
                <a:solidFill>
                  <a:srgbClr val="888888"/>
                </a:solidFill>
              </a:defRPr>
            </a:lvl5pPr>
            <a:lvl6pPr marL="2729967" lvl="5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rgbClr val="888888"/>
              </a:buClr>
              <a:buSzPts val="2880"/>
              <a:buNone/>
              <a:defRPr sz="2867">
                <a:solidFill>
                  <a:srgbClr val="888888"/>
                </a:solidFill>
              </a:defRPr>
            </a:lvl6pPr>
            <a:lvl7pPr marL="3184961" lvl="6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rgbClr val="888888"/>
              </a:buClr>
              <a:buSzPts val="2880"/>
              <a:buNone/>
              <a:defRPr sz="2867">
                <a:solidFill>
                  <a:srgbClr val="888888"/>
                </a:solidFill>
              </a:defRPr>
            </a:lvl7pPr>
            <a:lvl8pPr marL="3639955" lvl="7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rgbClr val="888888"/>
              </a:buClr>
              <a:buSzPts val="2880"/>
              <a:buNone/>
              <a:defRPr sz="2867">
                <a:solidFill>
                  <a:srgbClr val="888888"/>
                </a:solidFill>
              </a:defRPr>
            </a:lvl8pPr>
            <a:lvl9pPr marL="4094950" lvl="8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rgbClr val="888888"/>
              </a:buClr>
              <a:buSzPts val="2880"/>
              <a:buNone/>
              <a:defRPr sz="2867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14849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7154843" y="30363355"/>
            <a:ext cx="7289840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15254666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1484968" y="1744156"/>
            <a:ext cx="18629590" cy="6332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1484967" y="8720745"/>
            <a:ext cx="9179798" cy="2078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4995" lvl="0" indent="-341245" algn="l">
              <a:lnSpc>
                <a:spcPct val="90000"/>
              </a:lnSpc>
              <a:spcBef>
                <a:spcPts val="17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09989" lvl="1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64984" lvl="2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19978" lvl="3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74973" lvl="4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29967" lvl="5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84961" lvl="6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39955" lvl="7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094950" lvl="8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10934760" y="8720745"/>
            <a:ext cx="9179798" cy="2078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4995" lvl="0" indent="-341245" algn="l">
              <a:lnSpc>
                <a:spcPct val="90000"/>
              </a:lnSpc>
              <a:spcBef>
                <a:spcPts val="17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09989" lvl="1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64984" lvl="2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19978" lvl="3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74973" lvl="4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29967" lvl="5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84961" lvl="6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39955" lvl="7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094950" lvl="8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14849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7154843" y="30363355"/>
            <a:ext cx="7289840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15254666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1487781" y="1744156"/>
            <a:ext cx="18629590" cy="6332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1487784" y="8030668"/>
            <a:ext cx="9137610" cy="3935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4995" lvl="0" indent="-227497" algn="l">
              <a:lnSpc>
                <a:spcPct val="90000"/>
              </a:lnSpc>
              <a:spcBef>
                <a:spcPts val="1791"/>
              </a:spcBef>
              <a:spcAft>
                <a:spcPts val="0"/>
              </a:spcAft>
              <a:buClr>
                <a:schemeClr val="dk1"/>
              </a:buClr>
              <a:buSzPts val="4320"/>
              <a:buNone/>
              <a:defRPr sz="4299" b="1"/>
            </a:lvl1pPr>
            <a:lvl2pPr marL="909989" lvl="1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83" b="1"/>
            </a:lvl2pPr>
            <a:lvl3pPr marL="1364984" lvl="2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3240"/>
              <a:buNone/>
              <a:defRPr sz="3224" b="1"/>
            </a:lvl3pPr>
            <a:lvl4pPr marL="1819978" lvl="3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 b="1"/>
            </a:lvl4pPr>
            <a:lvl5pPr marL="2274973" lvl="4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 b="1"/>
            </a:lvl5pPr>
            <a:lvl6pPr marL="2729967" lvl="5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 b="1"/>
            </a:lvl6pPr>
            <a:lvl7pPr marL="3184961" lvl="6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 b="1"/>
            </a:lvl7pPr>
            <a:lvl8pPr marL="3639955" lvl="7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 b="1"/>
            </a:lvl8pPr>
            <a:lvl9pPr marL="4094950" lvl="8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1487784" y="11966372"/>
            <a:ext cx="9137610" cy="17600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4995" lvl="0" indent="-341245" algn="l">
              <a:lnSpc>
                <a:spcPct val="90000"/>
              </a:lnSpc>
              <a:spcBef>
                <a:spcPts val="17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09989" lvl="1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64984" lvl="2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19978" lvl="3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74973" lvl="4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29967" lvl="5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84961" lvl="6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39955" lvl="7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094950" lvl="8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10934761" y="8030668"/>
            <a:ext cx="9182612" cy="3935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4995" lvl="0" indent="-227497" algn="l">
              <a:lnSpc>
                <a:spcPct val="90000"/>
              </a:lnSpc>
              <a:spcBef>
                <a:spcPts val="1791"/>
              </a:spcBef>
              <a:spcAft>
                <a:spcPts val="0"/>
              </a:spcAft>
              <a:buClr>
                <a:schemeClr val="dk1"/>
              </a:buClr>
              <a:buSzPts val="4320"/>
              <a:buNone/>
              <a:defRPr sz="4299" b="1"/>
            </a:lvl1pPr>
            <a:lvl2pPr marL="909989" lvl="1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83" b="1"/>
            </a:lvl2pPr>
            <a:lvl3pPr marL="1364984" lvl="2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3240"/>
              <a:buNone/>
              <a:defRPr sz="3224" b="1"/>
            </a:lvl3pPr>
            <a:lvl4pPr marL="1819978" lvl="3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 b="1"/>
            </a:lvl4pPr>
            <a:lvl5pPr marL="2274973" lvl="4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 b="1"/>
            </a:lvl5pPr>
            <a:lvl6pPr marL="2729967" lvl="5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 b="1"/>
            </a:lvl6pPr>
            <a:lvl7pPr marL="3184961" lvl="6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 b="1"/>
            </a:lvl7pPr>
            <a:lvl8pPr marL="3639955" lvl="7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 b="1"/>
            </a:lvl8pPr>
            <a:lvl9pPr marL="4094950" lvl="8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10934761" y="11966372"/>
            <a:ext cx="9182612" cy="17600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4995" lvl="0" indent="-341245" algn="l">
              <a:lnSpc>
                <a:spcPct val="90000"/>
              </a:lnSpc>
              <a:spcBef>
                <a:spcPts val="17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09989" lvl="1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64984" lvl="2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19978" lvl="3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74973" lvl="4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29967" lvl="5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84961" lvl="6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39955" lvl="7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094950" lvl="8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14849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7154843" y="30363355"/>
            <a:ext cx="7289840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15254666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1484968" y="1744156"/>
            <a:ext cx="18629590" cy="6332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14849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7154843" y="30363355"/>
            <a:ext cx="7289840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15254666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14849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7154843" y="30363355"/>
            <a:ext cx="7289840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15254666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1487781" y="2183981"/>
            <a:ext cx="6966408" cy="7643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60"/>
              <a:buFont typeface="Calibri"/>
              <a:buNone/>
              <a:defRPr sz="573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9182611" y="4716792"/>
            <a:ext cx="10934760" cy="23280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4995" lvl="0" indent="-591493" algn="l">
              <a:lnSpc>
                <a:spcPct val="90000"/>
              </a:lnSpc>
              <a:spcBef>
                <a:spcPts val="1791"/>
              </a:spcBef>
              <a:spcAft>
                <a:spcPts val="0"/>
              </a:spcAft>
              <a:buClr>
                <a:schemeClr val="dk1"/>
              </a:buClr>
              <a:buSzPts val="5760"/>
              <a:buChar char="•"/>
              <a:defRPr sz="5732"/>
            </a:lvl1pPr>
            <a:lvl2pPr marL="909989" lvl="1" indent="-545994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5040"/>
              <a:buChar char="•"/>
              <a:defRPr sz="5016"/>
            </a:lvl2pPr>
            <a:lvl3pPr marL="1364984" lvl="2" indent="-500493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4320"/>
              <a:buChar char="•"/>
              <a:defRPr sz="4299"/>
            </a:lvl3pPr>
            <a:lvl4pPr marL="1819978" lvl="3" indent="-45499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583"/>
            </a:lvl4pPr>
            <a:lvl5pPr marL="2274973" lvl="4" indent="-45499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583"/>
            </a:lvl5pPr>
            <a:lvl6pPr marL="2729967" lvl="5" indent="-45499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583"/>
            </a:lvl6pPr>
            <a:lvl7pPr marL="3184961" lvl="6" indent="-45499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583"/>
            </a:lvl7pPr>
            <a:lvl8pPr marL="3639955" lvl="7" indent="-45499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583"/>
            </a:lvl8pPr>
            <a:lvl9pPr marL="4094950" lvl="8" indent="-45499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583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1487781" y="9827892"/>
            <a:ext cx="6966408" cy="18207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4995" lvl="0" indent="-227497" algn="l">
              <a:lnSpc>
                <a:spcPct val="90000"/>
              </a:lnSpc>
              <a:spcBef>
                <a:spcPts val="1791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/>
            </a:lvl1pPr>
            <a:lvl2pPr marL="909989" lvl="1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08"/>
            </a:lvl2pPr>
            <a:lvl3pPr marL="1364984" lvl="2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2149"/>
            </a:lvl3pPr>
            <a:lvl4pPr marL="1819978" lvl="3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791"/>
            </a:lvl4pPr>
            <a:lvl5pPr marL="2274973" lvl="4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791"/>
            </a:lvl5pPr>
            <a:lvl6pPr marL="2729967" lvl="5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791"/>
            </a:lvl6pPr>
            <a:lvl7pPr marL="3184961" lvl="6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791"/>
            </a:lvl7pPr>
            <a:lvl8pPr marL="3639955" lvl="7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791"/>
            </a:lvl8pPr>
            <a:lvl9pPr marL="4094950" lvl="8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791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14849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7154843" y="30363355"/>
            <a:ext cx="7289840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15254666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1487781" y="2183981"/>
            <a:ext cx="6966408" cy="7643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60"/>
              <a:buFont typeface="Calibri"/>
              <a:buNone/>
              <a:defRPr sz="573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9182611" y="4716792"/>
            <a:ext cx="10934760" cy="23280583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1487781" y="9827892"/>
            <a:ext cx="6966408" cy="18207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4995" lvl="0" indent="-227497" algn="l">
              <a:lnSpc>
                <a:spcPct val="90000"/>
              </a:lnSpc>
              <a:spcBef>
                <a:spcPts val="1791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/>
            </a:lvl1pPr>
            <a:lvl2pPr marL="909989" lvl="1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08"/>
            </a:lvl2pPr>
            <a:lvl3pPr marL="1364984" lvl="2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2149"/>
            </a:lvl3pPr>
            <a:lvl4pPr marL="1819978" lvl="3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791"/>
            </a:lvl4pPr>
            <a:lvl5pPr marL="2274973" lvl="4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791"/>
            </a:lvl5pPr>
            <a:lvl6pPr marL="2729967" lvl="5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791"/>
            </a:lvl6pPr>
            <a:lvl7pPr marL="3184961" lvl="6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791"/>
            </a:lvl7pPr>
            <a:lvl8pPr marL="3639955" lvl="7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791"/>
            </a:lvl8pPr>
            <a:lvl9pPr marL="4094950" lvl="8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791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14849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7154843" y="30363355"/>
            <a:ext cx="7289840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15254666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1484968" y="1744156"/>
            <a:ext cx="18629590" cy="6332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406915" y="9798797"/>
            <a:ext cx="20785694" cy="1862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4995" lvl="0" indent="-341245" algn="l">
              <a:lnSpc>
                <a:spcPct val="90000"/>
              </a:lnSpc>
              <a:spcBef>
                <a:spcPts val="17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09989" lvl="1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64984" lvl="2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19978" lvl="3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74973" lvl="4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29967" lvl="5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84961" lvl="6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39955" lvl="7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094950" lvl="8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14849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7154843" y="30363355"/>
            <a:ext cx="7289840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15254666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3904715" y="13296597"/>
            <a:ext cx="27762291" cy="4657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5545076" y="8774196"/>
            <a:ext cx="27762291" cy="13702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4995" lvl="0" indent="-341245" algn="l">
              <a:lnSpc>
                <a:spcPct val="90000"/>
              </a:lnSpc>
              <a:spcBef>
                <a:spcPts val="17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09989" lvl="1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64984" lvl="2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19978" lvl="3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74973" lvl="4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29967" lvl="5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84961" lvl="6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39955" lvl="7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094950" lvl="8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14849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7154843" y="30363355"/>
            <a:ext cx="7289840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5254666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1484968" y="1744156"/>
            <a:ext cx="18629590" cy="6332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20"/>
              <a:buFont typeface="Calibri"/>
              <a:buNone/>
              <a:defRPr sz="791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1484968" y="8720745"/>
            <a:ext cx="18629590" cy="2078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54864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040"/>
              <a:buFont typeface="Arial"/>
              <a:buChar char="•"/>
              <a:defRPr sz="50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02919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320"/>
              <a:buFont typeface="Arial"/>
              <a:buChar char="•"/>
              <a:defRPr sz="43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34339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3240"/>
              <a:buFont typeface="Arial"/>
              <a:buChar char="•"/>
              <a:defRPr sz="32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34339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3240"/>
              <a:buFont typeface="Arial"/>
              <a:buChar char="•"/>
              <a:defRPr sz="32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34339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3240"/>
              <a:buFont typeface="Arial"/>
              <a:buChar char="•"/>
              <a:defRPr sz="32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34339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3240"/>
              <a:buFont typeface="Arial"/>
              <a:buChar char="•"/>
              <a:defRPr sz="32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34339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3240"/>
              <a:buFont typeface="Arial"/>
              <a:buChar char="•"/>
              <a:defRPr sz="32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3434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3240"/>
              <a:buFont typeface="Arial"/>
              <a:buChar char="•"/>
              <a:defRPr sz="32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14849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7154843" y="30363355"/>
            <a:ext cx="7289840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5254666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3824004"/>
            <a:ext cx="21599525" cy="5591640"/>
          </a:xfrm>
          <a:prstGeom prst="rect">
            <a:avLst/>
          </a:prstGeom>
          <a:solidFill>
            <a:srgbClr val="FED67F"/>
          </a:solidFill>
          <a:ln>
            <a:noFill/>
          </a:ln>
        </p:spPr>
        <p:txBody>
          <a:bodyPr spcFirstLastPara="1" wrap="square" lIns="90984" tIns="45480" rIns="90984" bIns="45480" anchor="ctr" anchorCtr="0">
            <a:noAutofit/>
          </a:bodyPr>
          <a:lstStyle/>
          <a:p>
            <a:pPr algn="ctr">
              <a:buSzPts val="1800"/>
            </a:pPr>
            <a:endParaRPr sz="179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-4354" y="9408764"/>
            <a:ext cx="21599524" cy="6480902"/>
          </a:xfrm>
          <a:prstGeom prst="rect">
            <a:avLst/>
          </a:prstGeom>
          <a:solidFill>
            <a:srgbClr val="BFE7FF"/>
          </a:solidFill>
          <a:ln>
            <a:noFill/>
          </a:ln>
        </p:spPr>
        <p:txBody>
          <a:bodyPr spcFirstLastPara="1" wrap="square" lIns="90984" tIns="45480" rIns="90984" bIns="45480" anchor="ctr" anchorCtr="0">
            <a:noAutofit/>
          </a:bodyPr>
          <a:lstStyle/>
          <a:p>
            <a:pPr algn="ctr">
              <a:buSzPts val="1800"/>
            </a:pPr>
            <a:endParaRPr lang="en-IN" sz="179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SzPts val="1800"/>
            </a:pPr>
            <a:endParaRPr lang="en-IN" sz="179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SzPts val="1800"/>
            </a:pPr>
            <a:endParaRPr lang="en-IN" sz="179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SzPts val="1800"/>
            </a:pPr>
            <a:endParaRPr lang="en-IN" sz="179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SzPts val="1800"/>
            </a:pPr>
            <a:endParaRPr lang="en-IN" sz="179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SzPts val="1800"/>
            </a:pPr>
            <a:endParaRPr lang="en-IN" sz="179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SzPts val="1800"/>
            </a:pPr>
            <a:endParaRPr lang="en-IN" sz="179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SzPts val="1800"/>
            </a:pPr>
            <a:endParaRPr lang="en-IN" sz="179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SzPts val="1800"/>
            </a:pPr>
            <a:endParaRPr lang="en-IN" sz="179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SzPts val="1800"/>
            </a:pPr>
            <a:endParaRPr lang="en-IN" sz="179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SzPts val="1800"/>
            </a:pPr>
            <a:endParaRPr lang="en-IN" sz="179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SzPts val="1800"/>
            </a:pPr>
            <a:endParaRPr lang="en-IN" sz="179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SzPts val="1800"/>
            </a:pPr>
            <a:endParaRPr lang="en-IN" sz="179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SzPts val="1800"/>
            </a:pPr>
            <a:endParaRPr lang="en-IN" sz="179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SzPts val="1800"/>
            </a:pPr>
            <a:r>
              <a:rPr lang="en-IN" sz="179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                                           </a:t>
            </a:r>
            <a:endParaRPr sz="179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0" y="15860819"/>
            <a:ext cx="21599524" cy="6222684"/>
          </a:xfrm>
          <a:prstGeom prst="rect">
            <a:avLst/>
          </a:prstGeom>
          <a:solidFill>
            <a:srgbClr val="FFCFE7"/>
          </a:solidFill>
          <a:ln>
            <a:noFill/>
          </a:ln>
        </p:spPr>
        <p:txBody>
          <a:bodyPr spcFirstLastPara="1" wrap="square" lIns="90984" tIns="45480" rIns="90984" bIns="45480" anchor="ctr" anchorCtr="0">
            <a:noAutofit/>
          </a:bodyPr>
          <a:lstStyle/>
          <a:p>
            <a:pPr marL="284371" indent="-170623" algn="just">
              <a:buClr>
                <a:schemeClr val="dk1"/>
              </a:buClr>
              <a:buSzPts val="1800"/>
            </a:pPr>
            <a:endParaRPr sz="179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0" y="22007274"/>
            <a:ext cx="21599524" cy="5769958"/>
          </a:xfrm>
          <a:prstGeom prst="rect">
            <a:avLst/>
          </a:prstGeom>
          <a:solidFill>
            <a:srgbClr val="FCDCBF"/>
          </a:solidFill>
          <a:ln>
            <a:noFill/>
          </a:ln>
        </p:spPr>
        <p:txBody>
          <a:bodyPr spcFirstLastPara="1" wrap="square" lIns="90984" tIns="45480" rIns="90984" bIns="45480" anchor="ctr" anchorCtr="0">
            <a:noAutofit/>
          </a:bodyPr>
          <a:lstStyle/>
          <a:p>
            <a:pPr algn="ctr">
              <a:buSzPts val="1800"/>
            </a:pPr>
            <a:endParaRPr lang="en-IN" sz="179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-1" y="27498612"/>
            <a:ext cx="21599525" cy="5261038"/>
          </a:xfrm>
          <a:prstGeom prst="rect">
            <a:avLst/>
          </a:prstGeom>
          <a:solidFill>
            <a:srgbClr val="D7F5CD"/>
          </a:solidFill>
          <a:ln>
            <a:noFill/>
          </a:ln>
        </p:spPr>
        <p:txBody>
          <a:bodyPr spcFirstLastPara="1" wrap="square" lIns="90984" tIns="45480" rIns="90984" bIns="45480" anchor="ctr" anchorCtr="0">
            <a:noAutofit/>
          </a:bodyPr>
          <a:lstStyle/>
          <a:p>
            <a:pPr algn="ctr">
              <a:buSzPts val="1800"/>
            </a:pPr>
            <a:endParaRPr sz="179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420535" y="4057676"/>
            <a:ext cx="3245274" cy="551428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984" tIns="45480" rIns="90984" bIns="45480" anchor="ctr" anchorCtr="0">
            <a:noAutofit/>
          </a:bodyPr>
          <a:lstStyle/>
          <a:p>
            <a:pPr>
              <a:buSzPts val="2800"/>
            </a:pPr>
            <a:r>
              <a:rPr lang="en-IN" sz="2786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786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0" y="2157728"/>
            <a:ext cx="21603879" cy="1676851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0984" tIns="45480" rIns="90984" bIns="45480" anchor="ctr" anchorCtr="0">
            <a:noAutofit/>
          </a:bodyPr>
          <a:lstStyle/>
          <a:p>
            <a:pPr algn="ctr">
              <a:buSzPts val="1800"/>
            </a:pPr>
            <a:endParaRPr sz="179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420535" y="16002391"/>
            <a:ext cx="1870824" cy="551326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984" tIns="45480" rIns="90984" bIns="45480" anchor="ctr" anchorCtr="0">
            <a:noAutofit/>
          </a:bodyPr>
          <a:lstStyle/>
          <a:p>
            <a:pPr>
              <a:buSzPts val="2800"/>
            </a:pPr>
            <a:r>
              <a:rPr lang="en-IN" sz="2786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sz="2786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420535" y="22272989"/>
            <a:ext cx="5880467" cy="551326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984" tIns="45480" rIns="90984" bIns="45480" anchor="ctr" anchorCtr="0">
            <a:noAutofit/>
          </a:bodyPr>
          <a:lstStyle/>
          <a:p>
            <a:pPr>
              <a:buSzPts val="2800"/>
            </a:pPr>
            <a:r>
              <a:rPr lang="en-IN" sz="2786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DISCUSSION AND CONCLUSION</a:t>
            </a:r>
            <a:endParaRPr sz="2786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428744" y="27699861"/>
            <a:ext cx="3008311" cy="551326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984" tIns="45480" rIns="90984" bIns="45480" anchor="ctr" anchorCtr="0">
            <a:noAutofit/>
          </a:bodyPr>
          <a:lstStyle/>
          <a:p>
            <a:pPr>
              <a:buSzPts val="2800"/>
            </a:pPr>
            <a:r>
              <a:rPr lang="en-IN" sz="2786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2786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972012" y="2654594"/>
            <a:ext cx="19655501" cy="644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84" tIns="45480" rIns="90984" bIns="45480" anchor="t" anchorCtr="0">
            <a:spAutoFit/>
          </a:bodyPr>
          <a:lstStyle/>
          <a:p>
            <a:pPr algn="ctr"/>
            <a:r>
              <a:rPr lang="en-US" sz="3590" b="1" dirty="0">
                <a:latin typeface="Times New Roman" panose="02020603050405020304" pitchFamily="18" charset="0"/>
              </a:rPr>
              <a:t> Accuracy comparison of XG Boost and Random Forest in textile production forecasting.</a:t>
            </a:r>
            <a:endParaRPr lang="en-US" sz="3590" b="1" dirty="0"/>
          </a:p>
        </p:txBody>
      </p:sp>
      <p:sp>
        <p:nvSpPr>
          <p:cNvPr id="95" name="Google Shape;95;p1"/>
          <p:cNvSpPr/>
          <p:nvPr/>
        </p:nvSpPr>
        <p:spPr>
          <a:xfrm>
            <a:off x="420535" y="9740022"/>
            <a:ext cx="5160059" cy="551326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984" tIns="45480" rIns="90984" bIns="45480" anchor="ctr" anchorCtr="0">
            <a:noAutofit/>
          </a:bodyPr>
          <a:lstStyle/>
          <a:p>
            <a:pPr>
              <a:buSzPts val="2800"/>
            </a:pPr>
            <a:r>
              <a:rPr lang="en-IN" sz="2786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MATERIALS AND METHODS</a:t>
            </a:r>
            <a:endParaRPr sz="2786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12206807" y="1463838"/>
            <a:ext cx="6389920" cy="47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84" tIns="45480" rIns="90984" bIns="45480" anchor="t" anchorCtr="0">
            <a:spAutoFit/>
          </a:bodyPr>
          <a:lstStyle/>
          <a:p>
            <a:pPr algn="r">
              <a:buSzPts val="2500"/>
            </a:pPr>
            <a:r>
              <a:rPr lang="en-IN" sz="2488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V.BHARATH            19 C.ANITHA</a:t>
            </a:r>
            <a:endParaRPr sz="2488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420534" y="4784665"/>
            <a:ext cx="14423225" cy="4473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84" tIns="45480" rIns="90984" bIns="45480" anchor="t" anchorCtr="0">
            <a:spAutoFit/>
          </a:bodyPr>
          <a:lstStyle/>
          <a:p>
            <a:pPr marL="341245" indent="-315968" algn="just"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Investigating the application of machine learning in textile production prediction</a:t>
            </a:r>
          </a:p>
          <a:p>
            <a:pPr marL="341245" indent="-315968" algn="just"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Focusing on a comparative study between XGBoost and Random Forest models</a:t>
            </a:r>
          </a:p>
          <a:p>
            <a:pPr marL="341245" indent="-315968" algn="just"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Aiming to identify the most effective machine learning approach for textile production forecasting</a:t>
            </a:r>
          </a:p>
          <a:p>
            <a:pPr marL="341245" indent="-315968" algn="just"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Emphasizing the importance of selecting an optimal model for accurate and reliable predictions</a:t>
            </a:r>
          </a:p>
          <a:p>
            <a:pPr marL="341245" indent="-315968" algn="just"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groups were analyzed in this research. </a:t>
            </a:r>
          </a:p>
          <a:p>
            <a:pPr marL="25277" algn="just">
              <a:buClr>
                <a:schemeClr val="dk1"/>
              </a:buClr>
              <a:buSzPts val="2400"/>
            </a:pPr>
            <a:r>
              <a:rPr lang="en-US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Group 1: XGBoost Algorithm, </a:t>
            </a:r>
          </a:p>
          <a:p>
            <a:pPr marL="25277" algn="just">
              <a:buClr>
                <a:schemeClr val="dk1"/>
              </a:buClr>
              <a:buSzPts val="2400"/>
            </a:pPr>
            <a:r>
              <a:rPr lang="en-US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Group 2: Random Forest Algorithm. </a:t>
            </a:r>
          </a:p>
          <a:p>
            <a:pPr marL="341245" indent="-315968" algn="just"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Adopting a structured research approach, covering literature review, materials and methods, results, discussion, and conclusion sections.</a:t>
            </a:r>
          </a:p>
          <a:p>
            <a:pPr marL="341245" indent="-315968" algn="just"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Accurate forecasting of production outcomes is paramount for streamlining operations, minimizing waste, and ensuring optimal resource allocation.</a:t>
            </a:r>
          </a:p>
          <a:p>
            <a:pPr marL="341245" indent="-315968" algn="just"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Textile production encompasses a complex and multifaceted process, characterized by intricate interactions between raw materials, manufacturing parameters, and the final output.</a:t>
            </a:r>
          </a:p>
        </p:txBody>
      </p:sp>
      <p:sp>
        <p:nvSpPr>
          <p:cNvPr id="100" name="Google Shape;100;p1"/>
          <p:cNvSpPr txBox="1"/>
          <p:nvPr/>
        </p:nvSpPr>
        <p:spPr>
          <a:xfrm>
            <a:off x="420534" y="22892387"/>
            <a:ext cx="20206979" cy="4473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84" tIns="45480" rIns="90984" bIns="45480" anchor="t" anchorCtr="0">
            <a:spAutoFit/>
          </a:bodyPr>
          <a:lstStyle/>
          <a:p>
            <a:pPr marL="341245" indent="-341245" algn="just">
              <a:buSzPts val="2189"/>
              <a:buFont typeface="Wingdings" panose="05000000000000000000" pitchFamily="2" charset="2"/>
              <a:buChar char="Ø"/>
            </a:pPr>
            <a:r>
              <a:rPr lang="en-US" sz="21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achieves an accuracy of 61.18%, while </a:t>
            </a:r>
            <a:r>
              <a:rPr lang="en-US" sz="219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1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demonstrates a higher accuracy rate of 63.38% in financial analysis.</a:t>
            </a:r>
          </a:p>
          <a:p>
            <a:pPr marL="341245" indent="-341245" algn="just">
              <a:buSzPts val="2189"/>
              <a:buFont typeface="Wingdings" panose="05000000000000000000" pitchFamily="2" charset="2"/>
              <a:buChar char="Ø"/>
            </a:pPr>
            <a:r>
              <a:rPr lang="en-US" sz="21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graph visually represents this performance contrast, with the X-axis depicting Random Forest vs. </a:t>
            </a:r>
            <a:r>
              <a:rPr lang="en-US" sz="219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1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the Y-axis indicating mean accuracy. Error bars illustrate ±2 standard deviations.</a:t>
            </a:r>
          </a:p>
          <a:p>
            <a:pPr marL="341245" indent="-341245" algn="just">
              <a:buSzPts val="2189"/>
              <a:buFont typeface="Wingdings" panose="05000000000000000000" pitchFamily="2" charset="2"/>
              <a:buChar char="Ø"/>
            </a:pPr>
            <a:r>
              <a:rPr lang="en-US" sz="21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Leveraging the predictive capabilities of </a:t>
            </a:r>
            <a:r>
              <a:rPr lang="en-US" sz="219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1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can notably improve the accuracy of financial indicator comparisons, thus facilitating more informed decision-making in finance.</a:t>
            </a:r>
          </a:p>
          <a:p>
            <a:pPr marL="341245" indent="-341245" algn="just">
              <a:buSzPts val="2189"/>
              <a:buFont typeface="Wingdings" panose="05000000000000000000" pitchFamily="2" charset="2"/>
              <a:buChar char="Ø"/>
            </a:pPr>
            <a:r>
              <a:rPr lang="en-US" sz="21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underscores the pivotal role of algorithmic analysis and data mining techniques in extracting valuable insights for investment decisions, risk assessments, and predicting market sentiments.</a:t>
            </a:r>
          </a:p>
          <a:p>
            <a:pPr marL="341245" indent="-341245" algn="just">
              <a:buSzPts val="2189"/>
              <a:buFont typeface="Wingdings" panose="05000000000000000000" pitchFamily="2" charset="2"/>
              <a:buChar char="Ø"/>
            </a:pPr>
            <a:r>
              <a:rPr lang="en-US" sz="2190" b="1" dirty="0">
                <a:latin typeface="Times New Roman" panose="02020603050405020304" pitchFamily="18" charset="0"/>
              </a:rPr>
              <a:t>T-test Statistical analysis reveals a significance value of p=0.001 (independent sample T-test p&lt;0.05), signifying a statistically significant difference between the two groups.</a:t>
            </a:r>
          </a:p>
          <a:p>
            <a:pPr marL="341245" indent="-341245" algn="just">
              <a:buSzPts val="2189"/>
              <a:buFont typeface="Wingdings" panose="05000000000000000000" pitchFamily="2" charset="2"/>
              <a:buChar char="Ø"/>
            </a:pPr>
            <a:r>
              <a:rPr lang="en-US" sz="2190" b="1" spc="-8" dirty="0">
                <a:latin typeface="Times New Roman"/>
                <a:cs typeface="Times New Roman"/>
              </a:rPr>
              <a:t>We used SPSS a data analysis of software made by IBM to perform analyzing on data obtained graph for both algorithms  XG Boost and Random Forest.</a:t>
            </a:r>
            <a:endParaRPr lang="en-US" sz="219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245" indent="-341245" algn="just">
              <a:buSzPts val="2189"/>
              <a:buFont typeface="Wingdings" panose="05000000000000000000" pitchFamily="2" charset="2"/>
              <a:buChar char="Ø"/>
            </a:pPr>
            <a:r>
              <a:rPr lang="en-US" sz="21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discrepancy in accuracy warrants further investigation into the underlying mechanisms of each algorithm.</a:t>
            </a:r>
          </a:p>
          <a:p>
            <a:pPr marL="341245" indent="-341245" algn="just">
              <a:buSzPts val="2189"/>
              <a:buFont typeface="Wingdings" panose="05000000000000000000" pitchFamily="2" charset="2"/>
              <a:buChar char="Ø"/>
            </a:pPr>
            <a:r>
              <a:rPr lang="en-US" sz="21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conducted analysis, it can be inferred that for the given dataset and task, the </a:t>
            </a:r>
            <a:r>
              <a:rPr lang="en-US" sz="219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XGBRegressor</a:t>
            </a:r>
            <a:r>
              <a:rPr lang="en-US" sz="21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Optimizer algorithm is the preferred choice for achieving better predictive outcomes.</a:t>
            </a:r>
          </a:p>
        </p:txBody>
      </p:sp>
      <p:sp>
        <p:nvSpPr>
          <p:cNvPr id="101" name="Google Shape;101;p1"/>
          <p:cNvSpPr txBox="1"/>
          <p:nvPr/>
        </p:nvSpPr>
        <p:spPr>
          <a:xfrm>
            <a:off x="420535" y="28292030"/>
            <a:ext cx="20206978" cy="4473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84" tIns="45480" rIns="90984" bIns="45480" anchor="t" anchorCtr="0">
            <a:spAutoFit/>
          </a:bodyPr>
          <a:lstStyle/>
          <a:p>
            <a:pPr marL="341245" indent="-341245"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Kantasa-Ard A, </a:t>
            </a:r>
            <a:r>
              <a:rPr lang="en-IN" sz="219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Nouiri</a:t>
            </a:r>
            <a:r>
              <a:rPr lang="en-IN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M, </a:t>
            </a:r>
            <a:r>
              <a:rPr lang="en-IN" sz="219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Bekrar</a:t>
            </a:r>
            <a:r>
              <a:rPr lang="en-IN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A, Ait </a:t>
            </a:r>
            <a:r>
              <a:rPr lang="en-IN" sz="219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</a:t>
            </a:r>
            <a:r>
              <a:rPr lang="en-IN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Cadi A, </a:t>
            </a:r>
            <a:r>
              <a:rPr lang="en-IN" sz="219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Sallez</a:t>
            </a:r>
            <a:r>
              <a:rPr lang="en-IN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 (2021) Machine learning for demand forecasting in the physical internet: a case study of agricultural products in Thailand. Int J Prod Res 59(24):7491–7515</a:t>
            </a:r>
          </a:p>
          <a:p>
            <a:pPr marL="341245" indent="-341245"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219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Haberleitner</a:t>
            </a:r>
            <a:r>
              <a:rPr lang="en-IN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H, </a:t>
            </a:r>
            <a:r>
              <a:rPr lang="en-IN" sz="219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Meyr</a:t>
            </a:r>
            <a:r>
              <a:rPr lang="en-IN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H, </a:t>
            </a:r>
            <a:r>
              <a:rPr lang="en-IN" sz="219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Taudes</a:t>
            </a:r>
            <a:r>
              <a:rPr lang="en-IN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(2010) Implementation of a demand planning system using advance order information. Int J Prod Econ 128(2):518–526</a:t>
            </a:r>
          </a:p>
          <a:p>
            <a:pPr marL="341245" indent="-341245"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219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Tsoumakas</a:t>
            </a:r>
            <a:r>
              <a:rPr lang="en-IN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 (2019) A survey of machine learning techniques for food sales prediction. </a:t>
            </a:r>
            <a:r>
              <a:rPr lang="en-IN" sz="219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Artif</a:t>
            </a:r>
            <a:r>
              <a:rPr lang="en-IN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19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</a:t>
            </a:r>
            <a:r>
              <a:rPr lang="en-IN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Rev 52(1):441–447</a:t>
            </a:r>
          </a:p>
          <a:p>
            <a:pPr marL="341245" indent="-341245"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Wilson ZT, </a:t>
            </a:r>
            <a:r>
              <a:rPr lang="en-IN" sz="219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Sahinidis</a:t>
            </a:r>
            <a:r>
              <a:rPr lang="en-IN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NV (2017) The ALAMO approach to machine learning. </a:t>
            </a:r>
            <a:r>
              <a:rPr lang="en-IN" sz="219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</a:t>
            </a:r>
            <a:r>
              <a:rPr lang="en-IN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Chem Eng 106:785–795</a:t>
            </a:r>
          </a:p>
          <a:p>
            <a:pPr marL="341245" indent="-341245"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Mohammed A (2020) Towards ‘</a:t>
            </a:r>
            <a:r>
              <a:rPr lang="en-US" sz="219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gresilient</a:t>
            </a:r>
            <a:r>
              <a:rPr lang="en-US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’ supply chain management: a quantitative study. </a:t>
            </a:r>
            <a:r>
              <a:rPr lang="en-US" sz="219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</a:t>
            </a:r>
            <a:r>
              <a:rPr lang="en-US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9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Conserv</a:t>
            </a:r>
            <a:r>
              <a:rPr lang="en-US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9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Recycl</a:t>
            </a:r>
            <a:r>
              <a:rPr lang="en-US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155:104641</a:t>
            </a:r>
            <a:endParaRPr lang="en-IN" sz="219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1245" indent="-341245"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219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Goecks</a:t>
            </a:r>
            <a:r>
              <a:rPr lang="en-IN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J, Jalili V, </a:t>
            </a:r>
            <a:r>
              <a:rPr lang="en-IN" sz="219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Heiser</a:t>
            </a:r>
            <a:r>
              <a:rPr lang="en-IN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LM, Gray JW (2020) How machine learning will transform biomedicine. Cell 181(1):92–101</a:t>
            </a:r>
          </a:p>
          <a:p>
            <a:pPr marL="341245" indent="-341245"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219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Hüllermeier</a:t>
            </a:r>
            <a:r>
              <a:rPr lang="en-IN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 (2015) Does machine learning need fuzzy logic? Fuzzy Sets Syst 281:292–299</a:t>
            </a:r>
          </a:p>
          <a:p>
            <a:pPr marL="341245" indent="-341245"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Sillanpää V, Liesiö J (2018) Forecasting replenishment orders in retail: value of modelling low and intermittent consumer demand with distributions. Int J Prod Res 56(12):4168–4185</a:t>
            </a:r>
          </a:p>
          <a:p>
            <a:pPr marL="341245" indent="-341245"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Mohammed A (2020) Towards ‘gresilient’ supply chain management: a quantitative study. Resour Conserv Recycl 155:104641</a:t>
            </a:r>
          </a:p>
          <a:p>
            <a:pPr marL="341245" indent="-341245"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Oliva R, Watson N (2009) Managing functional biases in organizational forecasts: a case study of consensus forecasting in supply chain planning. Prod Oper Manag 18(2):138–151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AA8469-36BB-0779-1B1C-E030128E826B}"/>
              </a:ext>
            </a:extLst>
          </p:cNvPr>
          <p:cNvSpPr txBox="1"/>
          <p:nvPr/>
        </p:nvSpPr>
        <p:spPr>
          <a:xfrm>
            <a:off x="0" y="0"/>
            <a:ext cx="21599525" cy="11934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endParaRPr lang="en-IN" sz="1625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28579B-3D48-9F7A-A1E7-46935B3FB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" y="-10716"/>
            <a:ext cx="21595169" cy="218589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B69687A-04DA-6155-2D25-62A20D7AC2A1}"/>
              </a:ext>
            </a:extLst>
          </p:cNvPr>
          <p:cNvSpPr txBox="1"/>
          <p:nvPr/>
        </p:nvSpPr>
        <p:spPr>
          <a:xfrm>
            <a:off x="17465040" y="1118270"/>
            <a:ext cx="4138839" cy="1103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buSzPts val="2500"/>
            </a:pPr>
            <a:r>
              <a:rPr lang="en-IN" sz="2190" b="1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Name : </a:t>
            </a:r>
            <a:r>
              <a:rPr lang="en-IN" sz="2190" b="1" dirty="0" err="1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S.Ashish</a:t>
            </a:r>
            <a:r>
              <a:rPr lang="en-IN" sz="2190" b="1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Kumar</a:t>
            </a:r>
          </a:p>
          <a:p>
            <a:pPr algn="r">
              <a:buSzPts val="2500"/>
            </a:pPr>
            <a:r>
              <a:rPr lang="en-IN" sz="2190" b="1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Register Number:192124142</a:t>
            </a:r>
          </a:p>
          <a:p>
            <a:pPr algn="r">
              <a:buSzPts val="2500"/>
            </a:pPr>
            <a:r>
              <a:rPr lang="en-IN" sz="2190" b="1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Guided By : Dr .</a:t>
            </a:r>
            <a:r>
              <a:rPr lang="en-IN" sz="2190" b="1" dirty="0" err="1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A.Muniyappan</a:t>
            </a:r>
            <a:endParaRPr lang="en-IN" sz="2190" b="1" dirty="0">
              <a:solidFill>
                <a:schemeClr val="lt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FCB56A7-837C-8CFD-7752-2DB8FB0EFB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437175"/>
              </p:ext>
            </p:extLst>
          </p:nvPr>
        </p:nvGraphicFramePr>
        <p:xfrm>
          <a:off x="13301533" y="16739675"/>
          <a:ext cx="7503726" cy="412408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250621">
                  <a:extLst>
                    <a:ext uri="{9D8B030D-6E8A-4147-A177-3AD203B41FA5}">
                      <a16:colId xmlns:a16="http://schemas.microsoft.com/office/drawing/2014/main" val="1910611657"/>
                    </a:ext>
                  </a:extLst>
                </a:gridCol>
                <a:gridCol w="1250621">
                  <a:extLst>
                    <a:ext uri="{9D8B030D-6E8A-4147-A177-3AD203B41FA5}">
                      <a16:colId xmlns:a16="http://schemas.microsoft.com/office/drawing/2014/main" val="1489251037"/>
                    </a:ext>
                  </a:extLst>
                </a:gridCol>
                <a:gridCol w="1250621">
                  <a:extLst>
                    <a:ext uri="{9D8B030D-6E8A-4147-A177-3AD203B41FA5}">
                      <a16:colId xmlns:a16="http://schemas.microsoft.com/office/drawing/2014/main" val="3598316401"/>
                    </a:ext>
                  </a:extLst>
                </a:gridCol>
                <a:gridCol w="1250621">
                  <a:extLst>
                    <a:ext uri="{9D8B030D-6E8A-4147-A177-3AD203B41FA5}">
                      <a16:colId xmlns:a16="http://schemas.microsoft.com/office/drawing/2014/main" val="3343344597"/>
                    </a:ext>
                  </a:extLst>
                </a:gridCol>
                <a:gridCol w="1250621">
                  <a:extLst>
                    <a:ext uri="{9D8B030D-6E8A-4147-A177-3AD203B41FA5}">
                      <a16:colId xmlns:a16="http://schemas.microsoft.com/office/drawing/2014/main" val="3810631628"/>
                    </a:ext>
                  </a:extLst>
                </a:gridCol>
                <a:gridCol w="1250621">
                  <a:extLst>
                    <a:ext uri="{9D8B030D-6E8A-4147-A177-3AD203B41FA5}">
                      <a16:colId xmlns:a16="http://schemas.microsoft.com/office/drawing/2014/main" val="1124627737"/>
                    </a:ext>
                  </a:extLst>
                </a:gridCol>
              </a:tblGrid>
              <a:tr h="137469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94" marR="63194" marT="63194" marB="63194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</a:t>
                      </a:r>
                    </a:p>
                  </a:txBody>
                  <a:tcPr marL="63194" marR="63194" marT="63194" marB="63194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63194" marR="63194" marT="63194" marB="63194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</a:t>
                      </a:r>
                    </a:p>
                  </a:txBody>
                  <a:tcPr marL="63194" marR="63194" marT="63194" marB="63194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Std. Deviation</a:t>
                      </a:r>
                    </a:p>
                  </a:txBody>
                  <a:tcPr marL="63194" marR="63194" marT="63194" marB="63194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Std. Error Mean</a:t>
                      </a:r>
                    </a:p>
                  </a:txBody>
                  <a:tcPr marL="63194" marR="63194" marT="63194" marB="63194"/>
                </a:tc>
                <a:extLst>
                  <a:ext uri="{0D108BD9-81ED-4DB2-BD59-A6C34878D82A}">
                    <a16:rowId xmlns:a16="http://schemas.microsoft.com/office/drawing/2014/main" val="1483736915"/>
                  </a:ext>
                </a:extLst>
              </a:tr>
              <a:tr h="1374694"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 marL="63194" marR="63194" marT="63194" marB="63194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555"/>
                        </a:spcBef>
                        <a:spcAft>
                          <a:spcPts val="0"/>
                        </a:spcAft>
                      </a:pPr>
                      <a:r>
                        <a:rPr lang="en-IN" sz="2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</a:t>
                      </a:r>
                    </a:p>
                    <a:p>
                      <a:pPr marL="0" marR="0">
                        <a:lnSpc>
                          <a:spcPct val="114000"/>
                        </a:lnSpc>
                        <a:spcBef>
                          <a:spcPts val="555"/>
                        </a:spcBef>
                        <a:spcAft>
                          <a:spcPts val="0"/>
                        </a:spcAft>
                      </a:pPr>
                      <a:r>
                        <a:rPr lang="en-IN" sz="2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FOREST</a:t>
                      </a:r>
                    </a:p>
                  </a:txBody>
                  <a:tcPr marL="63194" marR="63194" marT="63194" marB="63194"/>
                </a:tc>
                <a:tc>
                  <a:txBody>
                    <a:bodyPr/>
                    <a:lstStyle/>
                    <a:p>
                      <a:pPr marL="294640" marR="0" indent="0">
                        <a:lnSpc>
                          <a:spcPct val="114000"/>
                        </a:lnSpc>
                        <a:spcBef>
                          <a:spcPts val="505"/>
                        </a:spcBef>
                        <a:spcAft>
                          <a:spcPts val="0"/>
                        </a:spcAft>
                      </a:pPr>
                      <a:r>
                        <a:rPr lang="en-IN" sz="2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3194" marR="63194" marT="63194" marB="63194"/>
                </a:tc>
                <a:tc>
                  <a:txBody>
                    <a:bodyPr/>
                    <a:lstStyle/>
                    <a:p>
                      <a:pPr marL="228600" marR="222250" indent="0" algn="ctr">
                        <a:lnSpc>
                          <a:spcPct val="114000"/>
                        </a:lnSpc>
                        <a:spcBef>
                          <a:spcPts val="505"/>
                        </a:spcBef>
                        <a:spcAft>
                          <a:spcPts val="0"/>
                        </a:spcAft>
                      </a:pPr>
                      <a:r>
                        <a:rPr lang="en-IN" sz="2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61.18</a:t>
                      </a:r>
                    </a:p>
                  </a:txBody>
                  <a:tcPr marL="63194" marR="63194" marT="63194" marB="63194"/>
                </a:tc>
                <a:tc>
                  <a:txBody>
                    <a:bodyPr/>
                    <a:lstStyle/>
                    <a:p>
                      <a:pPr marL="104140" marR="100965" indent="0" algn="ctr">
                        <a:lnSpc>
                          <a:spcPct val="114000"/>
                        </a:lnSpc>
                        <a:spcBef>
                          <a:spcPts val="505"/>
                        </a:spcBef>
                        <a:spcAft>
                          <a:spcPts val="0"/>
                        </a:spcAft>
                      </a:pPr>
                      <a:r>
                        <a:rPr lang="en-IN" sz="2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30.15544</a:t>
                      </a:r>
                    </a:p>
                  </a:txBody>
                  <a:tcPr marL="63194" marR="63194" marT="63194" marB="63194"/>
                </a:tc>
                <a:tc>
                  <a:txBody>
                    <a:bodyPr/>
                    <a:lstStyle/>
                    <a:p>
                      <a:pPr marL="109220" marR="99695" indent="0" algn="ctr">
                        <a:lnSpc>
                          <a:spcPct val="114000"/>
                        </a:lnSpc>
                        <a:spcBef>
                          <a:spcPts val="505"/>
                        </a:spcBef>
                        <a:spcAft>
                          <a:spcPts val="0"/>
                        </a:spcAft>
                      </a:pPr>
                      <a:r>
                        <a:rPr lang="en-IN" sz="2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9.53599</a:t>
                      </a:r>
                    </a:p>
                  </a:txBody>
                  <a:tcPr marL="63194" marR="63194" marT="63194" marB="63194"/>
                </a:tc>
                <a:extLst>
                  <a:ext uri="{0D108BD9-81ED-4DB2-BD59-A6C34878D82A}">
                    <a16:rowId xmlns:a16="http://schemas.microsoft.com/office/drawing/2014/main" val="598195948"/>
                  </a:ext>
                </a:extLst>
              </a:tr>
              <a:tr h="137469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555"/>
                        </a:spcBef>
                        <a:spcAft>
                          <a:spcPts val="0"/>
                        </a:spcAft>
                      </a:pPr>
                      <a:r>
                        <a:rPr lang="en-IN" sz="2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 BOOST</a:t>
                      </a:r>
                    </a:p>
                  </a:txBody>
                  <a:tcPr marL="63194" marR="63194" marT="63194" marB="63194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555"/>
                        </a:spcBef>
                        <a:spcAft>
                          <a:spcPts val="0"/>
                        </a:spcAft>
                      </a:pPr>
                      <a:r>
                        <a:rPr lang="en-IN" sz="2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10</a:t>
                      </a:r>
                    </a:p>
                  </a:txBody>
                  <a:tcPr marL="63194" marR="63194" marT="63194" marB="63194"/>
                </a:tc>
                <a:tc>
                  <a:txBody>
                    <a:bodyPr/>
                    <a:lstStyle/>
                    <a:p>
                      <a:pPr marL="228600" marR="222250" indent="0" algn="ctr">
                        <a:lnSpc>
                          <a:spcPct val="114000"/>
                        </a:lnSpc>
                        <a:spcBef>
                          <a:spcPts val="555"/>
                        </a:spcBef>
                        <a:spcAft>
                          <a:spcPts val="0"/>
                        </a:spcAft>
                      </a:pPr>
                      <a:r>
                        <a:rPr lang="en-IN" sz="2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63.38</a:t>
                      </a:r>
                    </a:p>
                  </a:txBody>
                  <a:tcPr marL="63194" marR="63194" marT="63194" marB="63194"/>
                </a:tc>
                <a:tc>
                  <a:txBody>
                    <a:bodyPr/>
                    <a:lstStyle/>
                    <a:p>
                      <a:pPr marL="104140" marR="100965" indent="0" algn="ctr">
                        <a:lnSpc>
                          <a:spcPct val="114000"/>
                        </a:lnSpc>
                        <a:spcBef>
                          <a:spcPts val="555"/>
                        </a:spcBef>
                        <a:spcAft>
                          <a:spcPts val="0"/>
                        </a:spcAft>
                      </a:pPr>
                      <a:r>
                        <a:rPr lang="en-IN" sz="2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36.0354</a:t>
                      </a:r>
                    </a:p>
                  </a:txBody>
                  <a:tcPr marL="63194" marR="63194" marT="63194" marB="63194"/>
                </a:tc>
                <a:tc>
                  <a:txBody>
                    <a:bodyPr/>
                    <a:lstStyle/>
                    <a:p>
                      <a:pPr marL="109220" marR="99695" indent="0" algn="ctr">
                        <a:lnSpc>
                          <a:spcPct val="114000"/>
                        </a:lnSpc>
                        <a:spcBef>
                          <a:spcPts val="555"/>
                        </a:spcBef>
                        <a:spcAft>
                          <a:spcPts val="0"/>
                        </a:spcAft>
                      </a:pPr>
                      <a:r>
                        <a:rPr lang="en-IN" sz="2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11.39847</a:t>
                      </a:r>
                    </a:p>
                  </a:txBody>
                  <a:tcPr marL="63194" marR="63194" marT="63194" marB="63194"/>
                </a:tc>
                <a:extLst>
                  <a:ext uri="{0D108BD9-81ED-4DB2-BD59-A6C34878D82A}">
                    <a16:rowId xmlns:a16="http://schemas.microsoft.com/office/drawing/2014/main" val="3867795332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CC3C2641-3200-9BB9-8C66-3A0CF3B7C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287" y="17774601"/>
            <a:ext cx="26765403" cy="551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999" tIns="45500" rIns="90999" bIns="45500" numCol="1" anchor="ctr" anchorCtr="0" compatLnSpc="1">
            <a:prstTxWarp prst="textNoShape">
              <a:avLst/>
            </a:prstTxWarp>
            <a:spAutoFit/>
          </a:bodyPr>
          <a:lstStyle/>
          <a:p>
            <a:pPr defTabSz="909989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br>
              <a:rPr lang="en-US" altLang="en-US" sz="1194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179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5B15FE-6A6D-5AAB-AD12-7233CD27F5D6}"/>
              </a:ext>
            </a:extLst>
          </p:cNvPr>
          <p:cNvSpPr txBox="1"/>
          <p:nvPr/>
        </p:nvSpPr>
        <p:spPr>
          <a:xfrm>
            <a:off x="420535" y="21198427"/>
            <a:ext cx="20206978" cy="766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90" b="1" dirty="0">
                <a:latin typeface="Times New Roman" panose="02020603050405020304" pitchFamily="18" charset="0"/>
              </a:rPr>
              <a:t>The accuracy of Random forest is 61.18 and accuracy of XG boost is 63.38. X- axis denotes Random forest Vs XG boost and Y-axis denotes mean accuracy, with error bars indicating ±2 SD.</a:t>
            </a:r>
            <a:endParaRPr lang="en-US" sz="2190" b="1" dirty="0">
              <a:latin typeface="Arial" panose="020B0604020202020204" pitchFamily="34" charset="0"/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97E87C2-04BB-38CA-97CB-8101E7B938AE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9086544" y="13279376"/>
            <a:ext cx="0" cy="9006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84B1A8B-69D2-CACB-FC2F-A961889E9AD0}"/>
              </a:ext>
            </a:extLst>
          </p:cNvPr>
          <p:cNvGrpSpPr/>
          <p:nvPr/>
        </p:nvGrpSpPr>
        <p:grpSpPr>
          <a:xfrm>
            <a:off x="428744" y="9740022"/>
            <a:ext cx="20376515" cy="5966435"/>
            <a:chOff x="3116679" y="10966836"/>
            <a:chExt cx="16103975" cy="427394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F30EB66-A0BE-A725-CF69-D907437C1ECE}"/>
                </a:ext>
              </a:extLst>
            </p:cNvPr>
            <p:cNvSpPr/>
            <p:nvPr/>
          </p:nvSpPr>
          <p:spPr>
            <a:xfrm>
              <a:off x="16182279" y="13392514"/>
              <a:ext cx="1949894" cy="94914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79" b="1" dirty="0">
                  <a:solidFill>
                    <a:schemeClr val="tx2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</a:t>
              </a:r>
            </a:p>
            <a:p>
              <a:pPr algn="ctr"/>
              <a:r>
                <a:rPr lang="en-IN" sz="2179" b="1" dirty="0">
                  <a:solidFill>
                    <a:schemeClr val="tx2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Selection/</a:t>
              </a:r>
            </a:p>
            <a:p>
              <a:pPr algn="ctr"/>
              <a:r>
                <a:rPr lang="en-IN" sz="2179" b="1" dirty="0">
                  <a:solidFill>
                    <a:schemeClr val="tx2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Evaluation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79D19AE-C46D-3454-31CC-A2791B50D2A7}"/>
                </a:ext>
              </a:extLst>
            </p:cNvPr>
            <p:cNvSpPr/>
            <p:nvPr/>
          </p:nvSpPr>
          <p:spPr>
            <a:xfrm>
              <a:off x="12386000" y="12019529"/>
              <a:ext cx="1949894" cy="90999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79" b="1" dirty="0">
                  <a:solidFill>
                    <a:schemeClr val="tx2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Learning</a:t>
              </a:r>
            </a:p>
            <a:p>
              <a:pPr algn="ctr"/>
              <a:r>
                <a:rPr lang="en-IN" sz="2179" b="1" dirty="0">
                  <a:solidFill>
                    <a:schemeClr val="tx2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Algorithms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E47134E-CF31-4429-DE3E-575937E94C38}"/>
                </a:ext>
              </a:extLst>
            </p:cNvPr>
            <p:cNvSpPr/>
            <p:nvPr/>
          </p:nvSpPr>
          <p:spPr>
            <a:xfrm>
              <a:off x="8984168" y="14147351"/>
              <a:ext cx="1949894" cy="90999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79" b="1" dirty="0">
                  <a:solidFill>
                    <a:schemeClr val="tx2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Classify/</a:t>
              </a:r>
            </a:p>
            <a:p>
              <a:pPr algn="ctr"/>
              <a:r>
                <a:rPr lang="en-IN" sz="2179" b="1" dirty="0">
                  <a:solidFill>
                    <a:schemeClr val="tx2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Predict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75A80E1-0C2C-EBB1-3FCD-2C4E8938CFE6}"/>
                </a:ext>
              </a:extLst>
            </p:cNvPr>
            <p:cNvSpPr/>
            <p:nvPr/>
          </p:nvSpPr>
          <p:spPr>
            <a:xfrm>
              <a:off x="5417245" y="14195163"/>
              <a:ext cx="2114983" cy="90999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79" b="1" dirty="0">
                  <a:solidFill>
                    <a:schemeClr val="tx2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Post Processing</a:t>
              </a:r>
            </a:p>
          </p:txBody>
        </p:sp>
        <p:sp>
          <p:nvSpPr>
            <p:cNvPr id="18" name="Cylinder 17">
              <a:extLst>
                <a:ext uri="{FF2B5EF4-FFF2-40B4-BE49-F238E27FC236}">
                  <a16:creationId xmlns:a16="http://schemas.microsoft.com/office/drawing/2014/main" id="{C418A802-C769-8D74-2165-8FFA3F631A29}"/>
                </a:ext>
              </a:extLst>
            </p:cNvPr>
            <p:cNvSpPr/>
            <p:nvPr/>
          </p:nvSpPr>
          <p:spPr>
            <a:xfrm>
              <a:off x="12805956" y="14030490"/>
              <a:ext cx="909991" cy="1210287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79" b="1" dirty="0">
                  <a:solidFill>
                    <a:schemeClr val="tx2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New</a:t>
              </a:r>
            </a:p>
            <a:p>
              <a:pPr algn="ctr"/>
              <a:r>
                <a:rPr lang="en-IN" sz="2179" b="1" dirty="0">
                  <a:solidFill>
                    <a:schemeClr val="tx2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</a:t>
              </a:r>
            </a:p>
          </p:txBody>
        </p: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31BA6A57-C780-90FD-719E-F124B400D076}"/>
                </a:ext>
              </a:extLst>
            </p:cNvPr>
            <p:cNvGrpSpPr/>
            <p:nvPr/>
          </p:nvGrpSpPr>
          <p:grpSpPr>
            <a:xfrm>
              <a:off x="3116679" y="11948276"/>
              <a:ext cx="7817383" cy="1210287"/>
              <a:chOff x="3116679" y="11948276"/>
              <a:chExt cx="7817383" cy="1210287"/>
            </a:xfrm>
          </p:grpSpPr>
          <p:sp>
            <p:nvSpPr>
              <p:cNvPr id="11" name="Cylinder 10">
                <a:extLst>
                  <a:ext uri="{FF2B5EF4-FFF2-40B4-BE49-F238E27FC236}">
                    <a16:creationId xmlns:a16="http://schemas.microsoft.com/office/drawing/2014/main" id="{F94DDE4C-41BD-5CF9-98D7-4B569E78093D}"/>
                  </a:ext>
                </a:extLst>
              </p:cNvPr>
              <p:cNvSpPr/>
              <p:nvPr/>
            </p:nvSpPr>
            <p:spPr>
              <a:xfrm>
                <a:off x="3116679" y="11948276"/>
                <a:ext cx="909991" cy="1210287"/>
              </a:xfrm>
              <a:prstGeom prst="ca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179" b="1" dirty="0">
                    <a:solidFill>
                      <a:schemeClr val="tx2">
                        <a:lumMod val="1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Raw</a:t>
                </a:r>
              </a:p>
              <a:p>
                <a:pPr algn="ctr"/>
                <a:r>
                  <a:rPr lang="en-IN" sz="2179" b="1" dirty="0">
                    <a:solidFill>
                      <a:schemeClr val="tx2">
                        <a:lumMod val="1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0242624-165D-9AE0-E598-160E0E47F053}"/>
                  </a:ext>
                </a:extLst>
              </p:cNvPr>
              <p:cNvSpPr/>
              <p:nvPr/>
            </p:nvSpPr>
            <p:spPr>
              <a:xfrm>
                <a:off x="5417245" y="12075789"/>
                <a:ext cx="2114983" cy="909991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179" b="1" dirty="0">
                    <a:solidFill>
                      <a:schemeClr val="tx2">
                        <a:lumMod val="1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 Preprocessing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B24E3B9-6FE4-93B8-1683-5538F53AEE14}"/>
                  </a:ext>
                </a:extLst>
              </p:cNvPr>
              <p:cNvSpPr/>
              <p:nvPr/>
            </p:nvSpPr>
            <p:spPr>
              <a:xfrm>
                <a:off x="8984168" y="12053689"/>
                <a:ext cx="1949894" cy="909991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179" b="1" dirty="0">
                    <a:solidFill>
                      <a:schemeClr val="tx2">
                        <a:lumMod val="1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</a:t>
                </a:r>
              </a:p>
              <a:p>
                <a:pPr algn="ctr"/>
                <a:r>
                  <a:rPr lang="en-IN" sz="2179" b="1" dirty="0">
                    <a:solidFill>
                      <a:schemeClr val="tx2">
                        <a:lumMod val="1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Engineering</a:t>
                </a:r>
              </a:p>
            </p:txBody>
          </p:sp>
          <p:sp>
            <p:nvSpPr>
              <p:cNvPr id="20" name="Arrow: Right 19">
                <a:extLst>
                  <a:ext uri="{FF2B5EF4-FFF2-40B4-BE49-F238E27FC236}">
                    <a16:creationId xmlns:a16="http://schemas.microsoft.com/office/drawing/2014/main" id="{2631FBB0-4564-9A36-DF79-C636F85B68E1}"/>
                  </a:ext>
                </a:extLst>
              </p:cNvPr>
              <p:cNvSpPr/>
              <p:nvPr/>
            </p:nvSpPr>
            <p:spPr>
              <a:xfrm>
                <a:off x="4204431" y="12380874"/>
                <a:ext cx="973689" cy="482295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25"/>
              </a:p>
            </p:txBody>
          </p:sp>
          <p:sp>
            <p:nvSpPr>
              <p:cNvPr id="23" name="Arrow: Right 22">
                <a:extLst>
                  <a:ext uri="{FF2B5EF4-FFF2-40B4-BE49-F238E27FC236}">
                    <a16:creationId xmlns:a16="http://schemas.microsoft.com/office/drawing/2014/main" id="{9D0A0767-FB17-B75A-0278-C5547E667480}"/>
                  </a:ext>
                </a:extLst>
              </p:cNvPr>
              <p:cNvSpPr/>
              <p:nvPr/>
            </p:nvSpPr>
            <p:spPr>
              <a:xfrm>
                <a:off x="7745393" y="12400386"/>
                <a:ext cx="973689" cy="482295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25"/>
              </a:p>
            </p:txBody>
          </p:sp>
        </p:grpSp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AB8D78A2-09F1-CFCA-E960-ED0E67542852}"/>
                </a:ext>
              </a:extLst>
            </p:cNvPr>
            <p:cNvSpPr/>
            <p:nvPr/>
          </p:nvSpPr>
          <p:spPr>
            <a:xfrm>
              <a:off x="11127905" y="12289636"/>
              <a:ext cx="973689" cy="48229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25"/>
            </a:p>
          </p:txBody>
        </p:sp>
        <p:cxnSp>
          <p:nvCxnSpPr>
            <p:cNvPr id="26" name="Connector: Elbow 25">
              <a:extLst>
                <a:ext uri="{FF2B5EF4-FFF2-40B4-BE49-F238E27FC236}">
                  <a16:creationId xmlns:a16="http://schemas.microsoft.com/office/drawing/2014/main" id="{AE21CACA-A850-439D-DBAC-63CB01887034}"/>
                </a:ext>
              </a:extLst>
            </p:cNvPr>
            <p:cNvCxnSpPr>
              <a:cxnSpLocks/>
            </p:cNvCxnSpPr>
            <p:nvPr/>
          </p:nvCxnSpPr>
          <p:spPr>
            <a:xfrm>
              <a:off x="14335894" y="12439977"/>
              <a:ext cx="1751027" cy="1457081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Arrow: Left 30">
              <a:extLst>
                <a:ext uri="{FF2B5EF4-FFF2-40B4-BE49-F238E27FC236}">
                  <a16:creationId xmlns:a16="http://schemas.microsoft.com/office/drawing/2014/main" id="{5B9C9CC0-DB33-C1AC-F441-D33D6997728D}"/>
                </a:ext>
              </a:extLst>
            </p:cNvPr>
            <p:cNvSpPr/>
            <p:nvPr/>
          </p:nvSpPr>
          <p:spPr>
            <a:xfrm>
              <a:off x="7739104" y="14469615"/>
              <a:ext cx="973689" cy="482295"/>
            </a:xfrm>
            <a:prstGeom prst="lef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25"/>
            </a:p>
          </p:txBody>
        </p:sp>
        <p:sp>
          <p:nvSpPr>
            <p:cNvPr id="32" name="Arrow: Left 31">
              <a:extLst>
                <a:ext uri="{FF2B5EF4-FFF2-40B4-BE49-F238E27FC236}">
                  <a16:creationId xmlns:a16="http://schemas.microsoft.com/office/drawing/2014/main" id="{2CA77480-E0C4-8524-4ABC-72A2571F068B}"/>
                </a:ext>
              </a:extLst>
            </p:cNvPr>
            <p:cNvSpPr/>
            <p:nvPr/>
          </p:nvSpPr>
          <p:spPr>
            <a:xfrm>
              <a:off x="11289518" y="14464158"/>
              <a:ext cx="973689" cy="482295"/>
            </a:xfrm>
            <a:prstGeom prst="lef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25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235E5EE-351A-354A-D10B-FE326B9B7D95}"/>
                </a:ext>
              </a:extLst>
            </p:cNvPr>
            <p:cNvCxnSpPr>
              <a:cxnSpLocks/>
            </p:cNvCxnSpPr>
            <p:nvPr/>
          </p:nvCxnSpPr>
          <p:spPr>
            <a:xfrm>
              <a:off x="9959115" y="13503775"/>
              <a:ext cx="330183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D099B55-2F4E-DC0B-0188-4187B5D5AA83}"/>
                </a:ext>
              </a:extLst>
            </p:cNvPr>
            <p:cNvCxnSpPr>
              <a:cxnSpLocks/>
            </p:cNvCxnSpPr>
            <p:nvPr/>
          </p:nvCxnSpPr>
          <p:spPr>
            <a:xfrm>
              <a:off x="13260951" y="12985779"/>
              <a:ext cx="0" cy="5179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60BB6BE6-6000-D597-0BD5-06ADCA2B9B6A}"/>
                </a:ext>
              </a:extLst>
            </p:cNvPr>
            <p:cNvCxnSpPr>
              <a:cxnSpLocks/>
            </p:cNvCxnSpPr>
            <p:nvPr/>
          </p:nvCxnSpPr>
          <p:spPr>
            <a:xfrm>
              <a:off x="13417187" y="11019133"/>
              <a:ext cx="0" cy="938641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8D3CEDF4-E7C0-94A2-E346-5A233B54A349}"/>
                </a:ext>
              </a:extLst>
            </p:cNvPr>
            <p:cNvCxnSpPr>
              <a:cxnSpLocks/>
            </p:cNvCxnSpPr>
            <p:nvPr/>
          </p:nvCxnSpPr>
          <p:spPr>
            <a:xfrm>
              <a:off x="13417187" y="10966836"/>
              <a:ext cx="3636209" cy="52297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D98F80D5-CADB-E552-EB0C-381CAA1997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041878" y="10992984"/>
              <a:ext cx="11519" cy="2393623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48823D8-F9E2-8E1F-6116-7495AA9B1FF3}"/>
                </a:ext>
              </a:extLst>
            </p:cNvPr>
            <p:cNvCxnSpPr>
              <a:cxnSpLocks/>
            </p:cNvCxnSpPr>
            <p:nvPr/>
          </p:nvCxnSpPr>
          <p:spPr>
            <a:xfrm>
              <a:off x="9809140" y="11437165"/>
              <a:ext cx="7232738" cy="67687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14490515-36DA-1B76-B421-3F597DEC8E1D}"/>
                </a:ext>
              </a:extLst>
            </p:cNvPr>
            <p:cNvCxnSpPr>
              <a:cxnSpLocks/>
            </p:cNvCxnSpPr>
            <p:nvPr/>
          </p:nvCxnSpPr>
          <p:spPr>
            <a:xfrm>
              <a:off x="9809139" y="11427426"/>
              <a:ext cx="0" cy="648363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F8F399E9-121C-284F-0E3C-4F781BB224E2}"/>
                </a:ext>
              </a:extLst>
            </p:cNvPr>
            <p:cNvCxnSpPr>
              <a:cxnSpLocks/>
            </p:cNvCxnSpPr>
            <p:nvPr/>
          </p:nvCxnSpPr>
          <p:spPr>
            <a:xfrm>
              <a:off x="17261845" y="14386862"/>
              <a:ext cx="0" cy="2632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6E699A81-A425-E47C-9BAF-EC470847294D}"/>
                </a:ext>
              </a:extLst>
            </p:cNvPr>
            <p:cNvSpPr txBox="1"/>
            <p:nvPr/>
          </p:nvSpPr>
          <p:spPr>
            <a:xfrm>
              <a:off x="16697425" y="14687359"/>
              <a:ext cx="2523229" cy="4276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179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Accuracy</a:t>
              </a: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60482B02-2D08-E4F4-505D-A998EFD1841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566" t="52835" r="7927" b="8001"/>
          <a:stretch/>
        </p:blipFill>
        <p:spPr>
          <a:xfrm>
            <a:off x="7463982" y="16739675"/>
            <a:ext cx="5566218" cy="398479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2A10402-F2CA-39CD-1CD5-6197F1B8A1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06168" y="4339867"/>
            <a:ext cx="5852010" cy="4432165"/>
          </a:xfrm>
          <a:prstGeom prst="rect">
            <a:avLst/>
          </a:prstGeom>
        </p:spPr>
      </p:pic>
      <p:sp>
        <p:nvSpPr>
          <p:cNvPr id="122" name="TextBox 121">
            <a:extLst>
              <a:ext uri="{FF2B5EF4-FFF2-40B4-BE49-F238E27FC236}">
                <a16:creationId xmlns:a16="http://schemas.microsoft.com/office/drawing/2014/main" id="{5A8ED51E-9E2A-60D1-E5C3-3EC328FC8D6E}"/>
              </a:ext>
            </a:extLst>
          </p:cNvPr>
          <p:cNvSpPr txBox="1"/>
          <p:nvPr/>
        </p:nvSpPr>
        <p:spPr>
          <a:xfrm>
            <a:off x="8444354" y="20735043"/>
            <a:ext cx="3605474" cy="4293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XG Boost vs Random Forest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281DC2D5-59F0-77D1-F896-E6C44BD06AD7}"/>
              </a:ext>
            </a:extLst>
          </p:cNvPr>
          <p:cNvSpPr txBox="1"/>
          <p:nvPr/>
        </p:nvSpPr>
        <p:spPr>
          <a:xfrm>
            <a:off x="14246106" y="16134592"/>
            <a:ext cx="6782626" cy="4293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statistics of XG Boost And Random Forest</a:t>
            </a:r>
          </a:p>
        </p:txBody>
      </p:sp>
      <p:pic>
        <p:nvPicPr>
          <p:cNvPr id="125" name="Picture 124">
            <a:extLst>
              <a:ext uri="{FF2B5EF4-FFF2-40B4-BE49-F238E27FC236}">
                <a16:creationId xmlns:a16="http://schemas.microsoft.com/office/drawing/2014/main" id="{071B2655-C93E-6CCC-0066-0F45E4F653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744" y="16695289"/>
            <a:ext cx="6744862" cy="4051770"/>
          </a:xfrm>
          <a:prstGeom prst="rect">
            <a:avLst/>
          </a:prstGeom>
        </p:spPr>
      </p:pic>
      <p:sp>
        <p:nvSpPr>
          <p:cNvPr id="126" name="TextBox 125">
            <a:extLst>
              <a:ext uri="{FF2B5EF4-FFF2-40B4-BE49-F238E27FC236}">
                <a16:creationId xmlns:a16="http://schemas.microsoft.com/office/drawing/2014/main" id="{D873FF9B-23CD-D9D4-1915-4AB434FC87D3}"/>
              </a:ext>
            </a:extLst>
          </p:cNvPr>
          <p:cNvSpPr txBox="1"/>
          <p:nvPr/>
        </p:nvSpPr>
        <p:spPr>
          <a:xfrm>
            <a:off x="2159813" y="20798666"/>
            <a:ext cx="2823722" cy="4293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Accuracy Graph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19EDD5-723D-92A8-B37D-113E528A2475}"/>
              </a:ext>
            </a:extLst>
          </p:cNvPr>
          <p:cNvSpPr txBox="1"/>
          <p:nvPr/>
        </p:nvSpPr>
        <p:spPr>
          <a:xfrm>
            <a:off x="16288206" y="8853692"/>
            <a:ext cx="3687933" cy="4293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Textile production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1691</TotalTime>
  <Words>760</Words>
  <Application>Microsoft Office PowerPoint</Application>
  <PresentationFormat>Custom</PresentationFormat>
  <Paragraphs>94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Noto Sans Symbols</vt:lpstr>
      <vt:lpstr>Times New Roman</vt:lpstr>
      <vt:lpstr>Wingdings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Ganesh Moorthy</dc:creator>
  <cp:lastModifiedBy>achu ashish</cp:lastModifiedBy>
  <cp:revision>15</cp:revision>
  <dcterms:created xsi:type="dcterms:W3CDTF">2023-04-19T08:35:46Z</dcterms:created>
  <dcterms:modified xsi:type="dcterms:W3CDTF">2024-04-25T07:43:39Z</dcterms:modified>
</cp:coreProperties>
</file>