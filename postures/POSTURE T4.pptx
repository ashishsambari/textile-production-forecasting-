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599525" cy="3275965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hF4aoUnsM2Mm4e2hOjcXn6Rtvl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27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98700" y="685800"/>
            <a:ext cx="2260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8700" y="685800"/>
            <a:ext cx="2260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619966" y="5361364"/>
            <a:ext cx="18359596" cy="1140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Calibri"/>
              <a:buNone/>
              <a:defRPr sz="1074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2699941" y="17206401"/>
            <a:ext cx="16199644" cy="7909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/>
            </a:lvl1pPr>
            <a:lvl2pPr lvl="1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83"/>
            </a:lvl2pPr>
            <a:lvl3pPr lvl="2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240"/>
              <a:buNone/>
              <a:defRPr sz="3224"/>
            </a:lvl3pPr>
            <a:lvl4pPr lvl="3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4pPr>
            <a:lvl5pPr lvl="4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5pPr>
            <a:lvl6pPr lvl="5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6pPr>
            <a:lvl7pPr lvl="6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7pPr>
            <a:lvl8pPr lvl="7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8pPr>
            <a:lvl9pPr lvl="8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484968" y="8720745"/>
            <a:ext cx="18629590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473718" y="8167176"/>
            <a:ext cx="18629590" cy="1362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Calibri"/>
              <a:buNone/>
              <a:defRPr sz="1074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473718" y="21923192"/>
            <a:ext cx="18629590" cy="7166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>
                <a:solidFill>
                  <a:schemeClr val="dk1"/>
                </a:solidFill>
              </a:defRPr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583">
                <a:solidFill>
                  <a:srgbClr val="888888"/>
                </a:solidFill>
              </a:defRPr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3240"/>
              <a:buNone/>
              <a:defRPr sz="3224">
                <a:solidFill>
                  <a:srgbClr val="888888"/>
                </a:solidFill>
              </a:defRPr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1484967" y="8720745"/>
            <a:ext cx="9179798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0934760" y="8720745"/>
            <a:ext cx="9179798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487781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487784" y="8030669"/>
            <a:ext cx="9137610" cy="393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 b="1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83" b="1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240"/>
              <a:buNone/>
              <a:defRPr sz="3224" b="1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487784" y="11966373"/>
            <a:ext cx="9137610" cy="1760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0934761" y="8030669"/>
            <a:ext cx="9182612" cy="393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 b="1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83" b="1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240"/>
              <a:buNone/>
              <a:defRPr sz="3224" b="1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0934761" y="11966373"/>
            <a:ext cx="9182612" cy="1760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1487781" y="2183982"/>
            <a:ext cx="6966408" cy="764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Calibri"/>
              <a:buNone/>
              <a:defRPr sz="5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9182611" y="4716793"/>
            <a:ext cx="10934760" cy="23280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591493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5760"/>
              <a:buChar char="•"/>
              <a:defRPr sz="5732"/>
            </a:lvl1pPr>
            <a:lvl2pPr marL="909989" lvl="1" indent="-545994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5040"/>
              <a:buChar char="•"/>
              <a:defRPr sz="5016"/>
            </a:lvl2pPr>
            <a:lvl3pPr marL="1364984" lvl="2" indent="-500493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4320"/>
              <a:buChar char="•"/>
              <a:defRPr sz="4299"/>
            </a:lvl3pPr>
            <a:lvl4pPr marL="1819978" lvl="3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4pPr>
            <a:lvl5pPr marL="2274973" lvl="4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5pPr>
            <a:lvl6pPr marL="2729967" lvl="5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6pPr>
            <a:lvl7pPr marL="3184961" lvl="6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7pPr>
            <a:lvl8pPr marL="3639955" lvl="7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8pPr>
            <a:lvl9pPr marL="4094950" lvl="8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1487781" y="9827893"/>
            <a:ext cx="6966408" cy="18207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08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49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487781" y="2183982"/>
            <a:ext cx="6966408" cy="764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Calibri"/>
              <a:buNone/>
              <a:defRPr sz="5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9182611" y="4716793"/>
            <a:ext cx="10934760" cy="2328058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487781" y="9827893"/>
            <a:ext cx="6966408" cy="18207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08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49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06915" y="9798797"/>
            <a:ext cx="20785694" cy="1862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3904716" y="13296597"/>
            <a:ext cx="27762291" cy="4657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545076" y="8774197"/>
            <a:ext cx="27762291" cy="13702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20"/>
              <a:buFont typeface="Calibri"/>
              <a:buNone/>
              <a:defRPr sz="79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484968" y="8720745"/>
            <a:ext cx="18629590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4864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Char char="•"/>
              <a:defRPr sz="5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0291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Arial"/>
              <a:buChar char="•"/>
              <a:defRPr sz="43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434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52546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3595448"/>
            <a:ext cx="21599524" cy="6476492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10086527"/>
            <a:ext cx="21599525" cy="5796386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15865595"/>
            <a:ext cx="21599524" cy="6363678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just">
              <a:buSzPts val="1800"/>
            </a:pPr>
            <a:endParaRPr sz="179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buSzPts val="1800"/>
            </a:pPr>
            <a:endParaRPr sz="179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4371" indent="-170623" algn="just">
              <a:buClr>
                <a:schemeClr val="dk1"/>
              </a:buClr>
              <a:buSzPts val="1800"/>
            </a:pPr>
            <a:endParaRPr sz="179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4371" indent="-170623" algn="just">
              <a:buClr>
                <a:schemeClr val="dk1"/>
              </a:buClr>
              <a:buSzPts val="1800"/>
            </a:pPr>
            <a:endParaRPr sz="179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4371" indent="-170623" algn="just">
              <a:buClr>
                <a:schemeClr val="dk1"/>
              </a:buClr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22229272"/>
            <a:ext cx="21599525" cy="5398541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0" y="27359008"/>
            <a:ext cx="21599525" cy="5400644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86124" y="3906708"/>
            <a:ext cx="3245274" cy="551428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2109154"/>
            <a:ext cx="21599524" cy="1487394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86123" y="16077653"/>
            <a:ext cx="1870824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86123" y="22386640"/>
            <a:ext cx="5880467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AND CONCLUSION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80869" y="27549856"/>
            <a:ext cx="3008311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76835" y="2238659"/>
            <a:ext cx="21599524" cy="119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algn="ctr">
              <a:buSzPts val="3600"/>
            </a:pPr>
            <a:r>
              <a:rPr lang="en-US" sz="3590" b="1" dirty="0">
                <a:latin typeface="Times New Roman" panose="02020603050405020304" pitchFamily="18" charset="0"/>
              </a:rPr>
              <a:t>Optimizing Textile Production Forecasting :A Comparative Study Of XG Boost And Support Vector Machine.</a:t>
            </a:r>
            <a:endParaRPr lang="en-US" sz="359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488720" y="10281488"/>
            <a:ext cx="5160059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486123" y="4612971"/>
            <a:ext cx="13859197" cy="514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marL="454995" indent="-379162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Textile production forecasting is crucial for optimizing manufacturing processes in response to market demands.</a:t>
            </a:r>
          </a:p>
          <a:p>
            <a:pPr marL="454995" indent="-379162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Machine learning techniques offer promising avenues for enhancing predictive modeling in textile production.</a:t>
            </a:r>
          </a:p>
          <a:p>
            <a:pPr marL="454995" indent="-379162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XG Boost and SVM represent contrasting yet powerful machine learning methodologies suitable for this task.</a:t>
            </a:r>
          </a:p>
          <a:p>
            <a:pPr marL="454995" indent="-379162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Two groups were analyzed in this research. </a:t>
            </a:r>
          </a:p>
          <a:p>
            <a:pPr marL="75833" algn="just">
              <a:buClr>
                <a:schemeClr val="dk1"/>
              </a:buClr>
              <a:buSzPts val="2400"/>
            </a:pPr>
            <a:r>
              <a:rPr lang="en-US" sz="219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Group 1: XGBoost Algorithm, </a:t>
            </a:r>
          </a:p>
          <a:p>
            <a:pPr marL="75833" algn="just">
              <a:buClr>
                <a:schemeClr val="dk1"/>
              </a:buClr>
              <a:buSzPts val="2400"/>
            </a:pPr>
            <a:r>
              <a:rPr lang="en-US" sz="219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Group 2: Support Vector Machine. </a:t>
            </a:r>
          </a:p>
          <a:p>
            <a:pPr marL="454995" indent="-379162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The selection of an apt machine learning model emerges as a pivotal determinant in realizing accurate and dependable forecasts amid the nuanced dynamics of production variables.</a:t>
            </a:r>
          </a:p>
          <a:p>
            <a:pPr marL="454995" indent="-379162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Textile production represents a multifaceted realm, characterized by a myriad of interwoven variables spanning from raw material compositions to intricate manufacturing parameters, all culminating in the final product output.</a:t>
            </a:r>
          </a:p>
          <a:p>
            <a:pPr marL="454995" indent="-379162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This study embarks on an exploration into the domain of textile production forecasting.</a:t>
            </a:r>
          </a:p>
          <a:p>
            <a:pPr marL="454995" indent="-379162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implementation of an optimal machine learning model holds the promise of ushering in transformative shifts in industry practices, fostering efficiency gains, cost reductions, and mitigating environmental footprints.</a:t>
            </a:r>
          </a:p>
        </p:txBody>
      </p:sp>
      <p:sp>
        <p:nvSpPr>
          <p:cNvPr id="100" name="Google Shape;100;p1"/>
          <p:cNvSpPr txBox="1"/>
          <p:nvPr/>
        </p:nvSpPr>
        <p:spPr>
          <a:xfrm>
            <a:off x="486122" y="23175895"/>
            <a:ext cx="20484117" cy="413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latin typeface="Times New Roman" panose="02020603050405020304" pitchFamily="18" charset="0"/>
              </a:rPr>
              <a:t>In the comparison between Support Vector Machine (SVM) and XGBoost algorithms, Support Vector Machine achieves an accuracy of 91.8590, while XGBoost achieves 68.3860 accuracy.</a:t>
            </a: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latin typeface="Times New Roman" panose="02020603050405020304" pitchFamily="18" charset="0"/>
              </a:rPr>
              <a:t>Linear Regression outperforms K-Nearest Neighbours (KNN) in accuracy, achieving 96.51%, while KNN achieves 87.502% accuracy.</a:t>
            </a: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latin typeface="Times New Roman" panose="02020603050405020304" pitchFamily="18" charset="0"/>
              </a:rPr>
              <a:t>The analysis indicates that KNN performs relatively worse than Linear Regression, with an accuracy of 87.502%.</a:t>
            </a: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latin typeface="Times New Roman" panose="02020603050405020304" pitchFamily="18" charset="0"/>
              </a:rPr>
              <a:t>T-test Statistical analysis reveals a significance value of p=0.001 (independent sample T-test p&lt;0.05), signifying a statistically significant difference between the two groups.</a:t>
            </a: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latin typeface="Times New Roman" panose="02020603050405020304" pitchFamily="18" charset="0"/>
              </a:rPr>
              <a:t>This prompts reflection on the factors influencing algorithm performance in specific contexts, emphasizing the need for empirical validation of algorithmic choices.</a:t>
            </a: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latin typeface="Times New Roman" panose="02020603050405020304" pitchFamily="18" charset="0"/>
              </a:rPr>
              <a:t>Overall, Linear Regression demonstrates higher accuracy compared to KNN in a novel model for comprehensive financial analysis.</a:t>
            </a: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spc="-8" dirty="0">
                <a:latin typeface="Times New Roman"/>
                <a:cs typeface="Times New Roman"/>
              </a:rPr>
              <a:t>We used SPSS a data analysis of software made by IBM to perform analyzing on data obtained graph for both algorithms  XG Boost and Support Vector Machine.</a:t>
            </a:r>
            <a:endParaRPr lang="en-US" sz="2190" b="1" dirty="0">
              <a:latin typeface="Times New Roman" panose="02020603050405020304" pitchFamily="18" charset="0"/>
            </a:endParaRP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latin typeface="Times New Roman" panose="02020603050405020304" pitchFamily="18" charset="0"/>
              </a:rPr>
              <a:t>This finding underscores the importance of selecting the most appropriate algorithm for predictive tasks within the textile production domain.</a:t>
            </a: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latin typeface="Times New Roman" panose="02020603050405020304" pitchFamily="18" charset="0"/>
              </a:rPr>
              <a:t>The superior performance of Support Vector Machine suggests that simpler models may sometimes yield better results, emphasizing the significance of considering algorithm complexity alongside predictive accuracy.</a:t>
            </a:r>
          </a:p>
        </p:txBody>
      </p:sp>
      <p:sp>
        <p:nvSpPr>
          <p:cNvPr id="101" name="Google Shape;101;p1"/>
          <p:cNvSpPr txBox="1"/>
          <p:nvPr/>
        </p:nvSpPr>
        <p:spPr>
          <a:xfrm>
            <a:off x="516857" y="28140437"/>
            <a:ext cx="20484117" cy="447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Hasanbeigi, “Energy-efficiency improvement opportunities for the textile industry,” Ernest Orlando Lawrence Berkeley National Laboratory,Berkeley, CA, Tech. Rep., 2010.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Wang, J. Wan, D. Li, and C. Zhang, “Implementing smart factory of industrie 4.0: An outlook,” International Journal of Distributed Sensor Networks, vol. 12, no. 1, pp. 158–168, 2016.</a:t>
            </a:r>
            <a:endParaRPr lang="en-IN" sz="219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A.V.Prasad, &amp;Krishna, ExploringtheConvergence of Big Data and the Internet of Things. Hershey, PA: IGI Global, 2017.</a:t>
            </a:r>
            <a:endParaRPr lang="en-IN" sz="219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R. Buyya, J. Broberg, and A. M. Goscinski, Cloud computing: Principles and paradigms. Hoboken, NJ: John Wiley &amp; Sons, 2010.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Dorgham, “Warping parameters influence on warp yarns properties: Part 2: Warp yarn material and cone position on warping creel,” Ph.D. dissertation, Weaving and Knitting Department Faculty of Applied Arts, Helwan University, Cairo, Egypt, 2014.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Mohammed A (2020) Towards ‘gresilient’ supply chain management: a quantitative study. Resour Conserv Recycl 155:104641.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Oliva R, Watson N (2009) Managing functional biases in organizational forecasts: a case study of consensus forecasting in supply chain planning. Prod Oper Manag 18(2):138–151.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 der Laan E, van Dalen J, Rohrmoser M, Simpson R (2016) Demand forecasting and order planning for humanitarian logistics: an empirical assessment. J Oper Manag 45:114–122.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0219D-A2EF-E97A-D2FC-80BAA2849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882258"/>
              </p:ext>
            </p:extLst>
          </p:nvPr>
        </p:nvGraphicFramePr>
        <p:xfrm>
          <a:off x="13464004" y="17115776"/>
          <a:ext cx="7500984" cy="427758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01763">
                  <a:extLst>
                    <a:ext uri="{9D8B030D-6E8A-4147-A177-3AD203B41FA5}">
                      <a16:colId xmlns:a16="http://schemas.microsoft.com/office/drawing/2014/main" val="1096202173"/>
                    </a:ext>
                  </a:extLst>
                </a:gridCol>
                <a:gridCol w="1150521">
                  <a:extLst>
                    <a:ext uri="{9D8B030D-6E8A-4147-A177-3AD203B41FA5}">
                      <a16:colId xmlns:a16="http://schemas.microsoft.com/office/drawing/2014/main" val="2447535698"/>
                    </a:ext>
                  </a:extLst>
                </a:gridCol>
                <a:gridCol w="1066463">
                  <a:extLst>
                    <a:ext uri="{9D8B030D-6E8A-4147-A177-3AD203B41FA5}">
                      <a16:colId xmlns:a16="http://schemas.microsoft.com/office/drawing/2014/main" val="1881768394"/>
                    </a:ext>
                  </a:extLst>
                </a:gridCol>
                <a:gridCol w="1394079">
                  <a:extLst>
                    <a:ext uri="{9D8B030D-6E8A-4147-A177-3AD203B41FA5}">
                      <a16:colId xmlns:a16="http://schemas.microsoft.com/office/drawing/2014/main" val="3545596103"/>
                    </a:ext>
                  </a:extLst>
                </a:gridCol>
                <a:gridCol w="1394079">
                  <a:extLst>
                    <a:ext uri="{9D8B030D-6E8A-4147-A177-3AD203B41FA5}">
                      <a16:colId xmlns:a16="http://schemas.microsoft.com/office/drawing/2014/main" val="3671483563"/>
                    </a:ext>
                  </a:extLst>
                </a:gridCol>
                <a:gridCol w="1394079">
                  <a:extLst>
                    <a:ext uri="{9D8B030D-6E8A-4147-A177-3AD203B41FA5}">
                      <a16:colId xmlns:a16="http://schemas.microsoft.com/office/drawing/2014/main" val="357039072"/>
                    </a:ext>
                  </a:extLst>
                </a:gridCol>
              </a:tblGrid>
              <a:tr h="1189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19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19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19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Deviation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19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 Mean</a:t>
                      </a:r>
                    </a:p>
                  </a:txBody>
                  <a:tcPr marL="63194" marR="63194" marT="63194" marB="63194"/>
                </a:tc>
                <a:extLst>
                  <a:ext uri="{0D108BD9-81ED-4DB2-BD59-A6C34878D82A}">
                    <a16:rowId xmlns:a16="http://schemas.microsoft.com/office/drawing/2014/main" val="2953637980"/>
                  </a:ext>
                </a:extLst>
              </a:tr>
              <a:tr h="192153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294640" marR="0" indent="0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228600" marR="222250" indent="0" algn="ctr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91.8590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4140" marR="100965" indent="0" algn="ctr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36.04512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9220" marR="99695" indent="0" algn="ctr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11.39847</a:t>
                      </a:r>
                    </a:p>
                  </a:txBody>
                  <a:tcPr marL="63194" marR="63194" marT="63194" marB="63194"/>
                </a:tc>
                <a:extLst>
                  <a:ext uri="{0D108BD9-81ED-4DB2-BD59-A6C34878D82A}">
                    <a16:rowId xmlns:a16="http://schemas.microsoft.com/office/drawing/2014/main" val="2232274621"/>
                  </a:ext>
                </a:extLst>
              </a:tr>
              <a:tr h="116693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 Boost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10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228600" marR="222250" indent="0" algn="ctr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68.3860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4140" marR="100965" indent="0" algn="ctr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1.51487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9220" marR="99695" indent="0" algn="ctr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19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0.47904</a:t>
                      </a:r>
                    </a:p>
                  </a:txBody>
                  <a:tcPr marL="63194" marR="63194" marT="63194" marB="63194"/>
                </a:tc>
                <a:extLst>
                  <a:ext uri="{0D108BD9-81ED-4DB2-BD59-A6C34878D82A}">
                    <a16:rowId xmlns:a16="http://schemas.microsoft.com/office/drawing/2014/main" val="176122895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A321167-3CDD-8BF3-0143-45220838876D}"/>
              </a:ext>
            </a:extLst>
          </p:cNvPr>
          <p:cNvSpPr txBox="1"/>
          <p:nvPr/>
        </p:nvSpPr>
        <p:spPr>
          <a:xfrm>
            <a:off x="480869" y="21355683"/>
            <a:ext cx="20484117" cy="826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</a:rPr>
              <a:t>It shows the accuracy of Support Vector Machine is 91.8590 and accuracy of XG Boost is 68.3860. X- axis denotes Support Vector Machine Vs XG Boost and Y-axis denotes mean accuracy, with error bars indicating ±2 SD.</a:t>
            </a:r>
            <a:endParaRPr lang="en-US" sz="2190" b="1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5FA5B-ED43-8785-FFC1-2D5A0FB1EEEF}"/>
              </a:ext>
            </a:extLst>
          </p:cNvPr>
          <p:cNvSpPr txBox="1"/>
          <p:nvPr/>
        </p:nvSpPr>
        <p:spPr>
          <a:xfrm>
            <a:off x="14909885" y="1471840"/>
            <a:ext cx="3998859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SzPts val="2500"/>
            </a:pPr>
            <a:endParaRPr lang="en-IN" sz="2179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9E0314-5D31-ABAF-968B-1A2CBE0546B0}"/>
              </a:ext>
            </a:extLst>
          </p:cNvPr>
          <p:cNvSpPr txBox="1"/>
          <p:nvPr/>
        </p:nvSpPr>
        <p:spPr>
          <a:xfrm>
            <a:off x="0" y="-1"/>
            <a:ext cx="21599525" cy="210508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endParaRPr lang="en-IN" sz="162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4E6BB-1CF9-45F8-DB6D-436E82250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54"/>
            <a:ext cx="21599524" cy="206727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1168544F-F988-CF40-C7FF-D74AE6FEA823}"/>
              </a:ext>
            </a:extLst>
          </p:cNvPr>
          <p:cNvGrpSpPr/>
          <p:nvPr/>
        </p:nvGrpSpPr>
        <p:grpSpPr>
          <a:xfrm>
            <a:off x="516856" y="10713860"/>
            <a:ext cx="20484118" cy="4832549"/>
            <a:chOff x="2838844" y="10713860"/>
            <a:chExt cx="15573405" cy="4832549"/>
          </a:xfrm>
        </p:grpSpPr>
        <p:sp>
          <p:nvSpPr>
            <p:cNvPr id="11" name="Cylinder 10">
              <a:extLst>
                <a:ext uri="{FF2B5EF4-FFF2-40B4-BE49-F238E27FC236}">
                  <a16:creationId xmlns:a16="http://schemas.microsoft.com/office/drawing/2014/main" id="{EF5CD56B-7A56-12D8-6E94-006735869563}"/>
                </a:ext>
              </a:extLst>
            </p:cNvPr>
            <p:cNvSpPr/>
            <p:nvPr/>
          </p:nvSpPr>
          <p:spPr>
            <a:xfrm>
              <a:off x="3627998" y="10973177"/>
              <a:ext cx="1647460" cy="121028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Raw Data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F249951-24AD-4B14-81E4-10CFC16BBD8C}"/>
                </a:ext>
              </a:extLst>
            </p:cNvPr>
            <p:cNvSpPr/>
            <p:nvPr/>
          </p:nvSpPr>
          <p:spPr>
            <a:xfrm>
              <a:off x="2838844" y="12960204"/>
              <a:ext cx="3223998" cy="258620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preprocessing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N" sz="1791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formatting</a:t>
              </a:r>
            </a:p>
            <a:p>
              <a:pPr algn="ctr"/>
              <a:r>
                <a:rPr lang="en-IN" sz="1791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Data Transforming</a:t>
              </a:r>
            </a:p>
            <a:p>
              <a:pPr algn="ctr"/>
              <a:r>
                <a:rPr lang="en-IN" sz="1791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Reducing</a:t>
              </a:r>
            </a:p>
            <a:p>
              <a:pPr algn="ctr"/>
              <a:r>
                <a:rPr lang="en-IN" sz="1791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sampling</a:t>
              </a:r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B88444EA-A12A-F58E-8E6A-2F5C3C452044}"/>
                </a:ext>
              </a:extLst>
            </p:cNvPr>
            <p:cNvSpPr/>
            <p:nvPr/>
          </p:nvSpPr>
          <p:spPr>
            <a:xfrm>
              <a:off x="6646266" y="13267939"/>
              <a:ext cx="2542057" cy="1970734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Enriched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D3E582B-25ED-EA2E-D534-BFE48947A7EA}"/>
                </a:ext>
              </a:extLst>
            </p:cNvPr>
            <p:cNvSpPr/>
            <p:nvPr/>
          </p:nvSpPr>
          <p:spPr>
            <a:xfrm>
              <a:off x="9252781" y="12505209"/>
              <a:ext cx="2138477" cy="9099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6948A-D004-6A55-76B0-BBE9F2C78CCD}"/>
                </a:ext>
              </a:extLst>
            </p:cNvPr>
            <p:cNvSpPr/>
            <p:nvPr/>
          </p:nvSpPr>
          <p:spPr>
            <a:xfrm>
              <a:off x="9252781" y="14597440"/>
              <a:ext cx="2138477" cy="9099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Testing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AE2709-54FF-B190-6379-EFDB92F0DF62}"/>
                </a:ext>
              </a:extLst>
            </p:cNvPr>
            <p:cNvSpPr/>
            <p:nvPr/>
          </p:nvSpPr>
          <p:spPr>
            <a:xfrm>
              <a:off x="12579933" y="12530536"/>
              <a:ext cx="2138477" cy="9099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ML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Classification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8A40700-D592-0CCA-770C-52C126B91B36}"/>
                </a:ext>
              </a:extLst>
            </p:cNvPr>
            <p:cNvSpPr/>
            <p:nvPr/>
          </p:nvSpPr>
          <p:spPr>
            <a:xfrm>
              <a:off x="16017042" y="12505209"/>
              <a:ext cx="2395207" cy="9099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94AC425-6F02-1290-B355-4DC237E4EB24}"/>
                </a:ext>
              </a:extLst>
            </p:cNvPr>
            <p:cNvSpPr/>
            <p:nvPr/>
          </p:nvSpPr>
          <p:spPr>
            <a:xfrm>
              <a:off x="12579933" y="14561521"/>
              <a:ext cx="2138477" cy="9099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Predictions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078130-2EC1-A5A8-06F0-E713B912587E}"/>
                </a:ext>
              </a:extLst>
            </p:cNvPr>
            <p:cNvSpPr/>
            <p:nvPr/>
          </p:nvSpPr>
          <p:spPr>
            <a:xfrm>
              <a:off x="16145407" y="14495931"/>
              <a:ext cx="2138477" cy="9099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Validation Data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8B3222B-3145-365D-04B2-BFE41240B03A}"/>
                </a:ext>
              </a:extLst>
            </p:cNvPr>
            <p:cNvSpPr/>
            <p:nvPr/>
          </p:nvSpPr>
          <p:spPr>
            <a:xfrm>
              <a:off x="13267480" y="10713860"/>
              <a:ext cx="3291131" cy="95961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</a:rPr>
                <a:t>Hyper-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</a:rPr>
                <a:t>Parameter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</a:rPr>
                <a:t>tuning</a:t>
              </a:r>
            </a:p>
          </p:txBody>
        </p:sp>
        <p:sp>
          <p:nvSpPr>
            <p:cNvPr id="21" name="Arrow: Down 20">
              <a:extLst>
                <a:ext uri="{FF2B5EF4-FFF2-40B4-BE49-F238E27FC236}">
                  <a16:creationId xmlns:a16="http://schemas.microsoft.com/office/drawing/2014/main" id="{934C72F6-98FB-0297-B85E-F87E719573BF}"/>
                </a:ext>
              </a:extLst>
            </p:cNvPr>
            <p:cNvSpPr/>
            <p:nvPr/>
          </p:nvSpPr>
          <p:spPr>
            <a:xfrm>
              <a:off x="4220501" y="12308904"/>
              <a:ext cx="460684" cy="63215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5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4B720CFC-7957-D1D2-32F9-20149E2F71BC}"/>
                </a:ext>
              </a:extLst>
            </p:cNvPr>
            <p:cNvSpPr/>
            <p:nvPr/>
          </p:nvSpPr>
          <p:spPr>
            <a:xfrm>
              <a:off x="6118807" y="14041094"/>
              <a:ext cx="463000" cy="42442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5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236B8E4-609B-2F2B-00D5-63C57437EE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5088" y="12995814"/>
              <a:ext cx="853238" cy="551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BEE73AB-6BC1-8434-889B-F2288DF01068}"/>
                </a:ext>
              </a:extLst>
            </p:cNvPr>
            <p:cNvCxnSpPr>
              <a:cxnSpLocks/>
            </p:cNvCxnSpPr>
            <p:nvPr/>
          </p:nvCxnSpPr>
          <p:spPr>
            <a:xfrm>
              <a:off x="8546986" y="14815277"/>
              <a:ext cx="641337" cy="2540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7737B730-5D26-DF93-E109-DBFC8783E346}"/>
                </a:ext>
              </a:extLst>
            </p:cNvPr>
            <p:cNvSpPr/>
            <p:nvPr/>
          </p:nvSpPr>
          <p:spPr>
            <a:xfrm>
              <a:off x="11515658" y="12727620"/>
              <a:ext cx="973689" cy="48229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5"/>
            </a:p>
          </p:txBody>
        </p: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B5DAF747-2203-0B58-D141-E428E398E353}"/>
                </a:ext>
              </a:extLst>
            </p:cNvPr>
            <p:cNvSpPr/>
            <p:nvPr/>
          </p:nvSpPr>
          <p:spPr>
            <a:xfrm>
              <a:off x="11515658" y="14775367"/>
              <a:ext cx="973689" cy="48229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5"/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FD48F8AF-FDA2-9166-FAE1-BAFE60828172}"/>
                </a:ext>
              </a:extLst>
            </p:cNvPr>
            <p:cNvSpPr/>
            <p:nvPr/>
          </p:nvSpPr>
          <p:spPr>
            <a:xfrm>
              <a:off x="14909885" y="14727321"/>
              <a:ext cx="973689" cy="48229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5"/>
            </a:p>
          </p:txBody>
        </p:sp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BBCA45E2-D43F-5C15-DCBA-89D51C1ADE30}"/>
                </a:ext>
              </a:extLst>
            </p:cNvPr>
            <p:cNvSpPr/>
            <p:nvPr/>
          </p:nvSpPr>
          <p:spPr>
            <a:xfrm>
              <a:off x="14857562" y="12754663"/>
              <a:ext cx="973689" cy="48229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5"/>
            </a:p>
          </p:txBody>
        </p:sp>
        <p:sp>
          <p:nvSpPr>
            <p:cNvPr id="37" name="Arrow: Up 36">
              <a:extLst>
                <a:ext uri="{FF2B5EF4-FFF2-40B4-BE49-F238E27FC236}">
                  <a16:creationId xmlns:a16="http://schemas.microsoft.com/office/drawing/2014/main" id="{E2C38052-A3E3-0A31-46FA-ACBA294B060F}"/>
                </a:ext>
              </a:extLst>
            </p:cNvPr>
            <p:cNvSpPr/>
            <p:nvPr/>
          </p:nvSpPr>
          <p:spPr>
            <a:xfrm>
              <a:off x="16909316" y="13464483"/>
              <a:ext cx="503044" cy="97092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5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9E72083-DA54-0E2F-2C8E-430FFECF15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58614" y="11152377"/>
              <a:ext cx="6560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2587355-A86E-3953-BC0D-164598330329}"/>
                </a:ext>
              </a:extLst>
            </p:cNvPr>
            <p:cNvCxnSpPr>
              <a:cxnSpLocks/>
            </p:cNvCxnSpPr>
            <p:nvPr/>
          </p:nvCxnSpPr>
          <p:spPr>
            <a:xfrm>
              <a:off x="17214643" y="11173024"/>
              <a:ext cx="0" cy="13321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A3FE3EA-4C14-34A6-B222-B7A30835F2F3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12905971" y="11192937"/>
              <a:ext cx="361509" cy="7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E494E90C-D525-0B23-F37C-1E65262FA9CE}"/>
                </a:ext>
              </a:extLst>
            </p:cNvPr>
            <p:cNvCxnSpPr>
              <a:cxnSpLocks/>
            </p:cNvCxnSpPr>
            <p:nvPr/>
          </p:nvCxnSpPr>
          <p:spPr>
            <a:xfrm>
              <a:off x="12905971" y="11216989"/>
              <a:ext cx="0" cy="12882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5B22C07-D9E7-EC87-9960-5EE2902042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767" t="55186" r="6020" b="2173"/>
          <a:stretch/>
        </p:blipFill>
        <p:spPr>
          <a:xfrm>
            <a:off x="7082872" y="16757099"/>
            <a:ext cx="6184608" cy="41889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515904B-E103-923E-318D-0F830B88D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1444" y="4612790"/>
            <a:ext cx="6281957" cy="45854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CDFA7C-6A38-6FAE-66A7-B90138A58084}"/>
              </a:ext>
            </a:extLst>
          </p:cNvPr>
          <p:cNvSpPr txBox="1"/>
          <p:nvPr/>
        </p:nvSpPr>
        <p:spPr>
          <a:xfrm>
            <a:off x="16901160" y="998481"/>
            <a:ext cx="4698364" cy="1103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SzPts val="2500"/>
            </a:pPr>
            <a:r>
              <a:rPr lang="en-IN" sz="219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: S .Ashish Kumar</a:t>
            </a:r>
          </a:p>
          <a:p>
            <a:pPr algn="r">
              <a:buSzPts val="2500"/>
            </a:pPr>
            <a:r>
              <a:rPr lang="en-IN" sz="219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Register number:192124142</a:t>
            </a:r>
          </a:p>
          <a:p>
            <a:pPr algn="r">
              <a:buSzPts val="2500"/>
            </a:pPr>
            <a:r>
              <a:rPr lang="en-IN" sz="219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Guided by : Dr . A .</a:t>
            </a:r>
            <a:r>
              <a:rPr lang="en-IN" sz="2190" dirty="0" err="1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Muniyappan</a:t>
            </a:r>
            <a:endParaRPr lang="en-IN" sz="2190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536E94-61A3-D062-9622-4CD8F98F0EEE}"/>
              </a:ext>
            </a:extLst>
          </p:cNvPr>
          <p:cNvSpPr txBox="1"/>
          <p:nvPr/>
        </p:nvSpPr>
        <p:spPr>
          <a:xfrm>
            <a:off x="11247120" y="17708057"/>
            <a:ext cx="59436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3F091-9277-CCDF-D8CF-CA8737A57598}"/>
              </a:ext>
            </a:extLst>
          </p:cNvPr>
          <p:cNvSpPr txBox="1"/>
          <p:nvPr/>
        </p:nvSpPr>
        <p:spPr>
          <a:xfrm>
            <a:off x="7815395" y="20994917"/>
            <a:ext cx="4719562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 Boost vs Support Vector Machine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920C1A-C5C4-0197-87E9-EFD52D290A43}"/>
              </a:ext>
            </a:extLst>
          </p:cNvPr>
          <p:cNvSpPr txBox="1"/>
          <p:nvPr/>
        </p:nvSpPr>
        <p:spPr>
          <a:xfrm>
            <a:off x="13464003" y="16497826"/>
            <a:ext cx="7896714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statistics of XG Boost And Support Vector Machine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6E60D7E-92DB-A424-F469-867192D9E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856" y="16740939"/>
            <a:ext cx="6351608" cy="420263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39C9131-EF13-A24A-735B-F15ECAE5A724}"/>
              </a:ext>
            </a:extLst>
          </p:cNvPr>
          <p:cNvSpPr txBox="1"/>
          <p:nvPr/>
        </p:nvSpPr>
        <p:spPr>
          <a:xfrm>
            <a:off x="2280799" y="21022260"/>
            <a:ext cx="2823722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Accuracy Graph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18D5B6-47C5-5D42-D211-86DADCDF26AB}"/>
              </a:ext>
            </a:extLst>
          </p:cNvPr>
          <p:cNvSpPr txBox="1"/>
          <p:nvPr/>
        </p:nvSpPr>
        <p:spPr>
          <a:xfrm>
            <a:off x="16128455" y="9316951"/>
            <a:ext cx="3687933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Textile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1790</TotalTime>
  <Words>835</Words>
  <Application>Microsoft Office PowerPoint</Application>
  <PresentationFormat>Custom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Noto Sans Symbols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achu ashish</cp:lastModifiedBy>
  <cp:revision>12</cp:revision>
  <dcterms:created xsi:type="dcterms:W3CDTF">2023-04-19T08:35:46Z</dcterms:created>
  <dcterms:modified xsi:type="dcterms:W3CDTF">2024-04-25T10:24:17Z</dcterms:modified>
</cp:coreProperties>
</file>